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4" r:id="rId17"/>
    <p:sldId id="275" r:id="rId18"/>
    <p:sldId id="271" r:id="rId19"/>
    <p:sldId id="276" r:id="rId20"/>
    <p:sldId id="277" r:id="rId21"/>
    <p:sldId id="273" r:id="rId22"/>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11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856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chao thay co va cac ban. Nhom em bao cao ngan gon ve du an: kiem tra xem cac phuong phap giai thich cho mo hinh dinh gia nha co dang tin khong, va dua ra cach chon phuong phap tot. Em se trinh bay don gian: bai toan, du lieu, y tuong, ket qua, cong cu, va giao viec tiep.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Bao cao gom bon phan don gian: bai toan va du lieu, y tuong va cach lam, ket qua chinh, va cong cu cung giao viec. Em se di nhanh tung phan.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Bai toan: mo hinh du doan gia nha tu cac dac trung. Khi dung that, moi muc gia can mot loi giai thich. Co nhieu phuong phap giai thich cho ket qua khac nhau. Cau hoi cot loi la loi giai thich co trung thuc voi mo hinh khong. Giai thich sai con nguy hiem hon vi tao niem tin sai.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Nhom dung ba bo du lieu nha o that, rat khac nhau ve quy mo: King County 553 nghin giao dich, California 20.6 nghin, Ames 1.5 nghin. Su da dang giup kiem tra ket qua co khai quat khong.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 hinh ket hop ba mo hinh boosting manh la LightGBM, XGBoost, CatBoost theo trong so toi uu. King County dat R binh phuong 0.826. Mo hinh chi la nen, trong tam cua du an la kiem tra phan giai thich.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la phat hien cot loi. De kiem tra giai thich, nguoi ta xoa dac trung roi xem du doan doi bao nhieu. Cach xoa pho bien la thay bang gia tri trung binh, nhung can nha trung binh moi thu la can khong co that, nen bai kiem tra co the do nham. Cach cua nhom la thay bang gia tri cua mot can nha that gan giong, goi la on-manifold, roi so sanh hai cach.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Hinh nay la bang chung. Cach on-manifold mau xanh bam sat du lieu that, khoang cach 3.8; cach trung binh mau do di xa hon, 5.1. Dieu nay dung cho toan bo truong hop. Nghia la cach trung binh that su day diem ra vung la, nen bai kiem tra dua tren no khong dang tin.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Nhom kiem tra nam phuong phap: KernelSHAP, Shapley sampling, LIME, Occlusion la khong phu thuoc mo hinh; TreeSHAP la mac dinh pho bien vi nhanh nhung gan voi cau truc cay.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 vai cach do do trung thuc. Nhom tap trung hai loai: deletion va insertion dua tren thu hang, va infidelity dua tren do cong tinh. Y chinh la so xem loai nao on dinh khi doi cach nhieu.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 qua mot: cach dua tren thu hang khong on dinh. Khi doi cach nhieu, thu hang cac phuong phap dao lon, tuong quan gan bang khong o ca ba thi truong. Nghia la chon phuong phap bang deletion khong dang tin.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 qua hai, diem tich cuc nhat. Infidelity khong nhung on dinh ma con huu ich: no du bao duoc tinh hanh dong duoc. Cac phuong phap infidelity chon dat 64 den 77 phan tram dung huong khi can thiep, con mac dinh TreeSHAP chi 47 den 53 phan tram, gan ngau nhien. Vay nen dung infidelity lam tieu chi.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 qua ba, khuyen nghi tich cuc. TreeSHAP mac dinh kem trung thuc nhat vi chi giai thich mot mo hinh con. Nhom de xuat consensus, ket hop cac phuong phap theo do trung thuc infidelity. Consensus vua trung thuc vua hanh dong duoc vua on dinh. Loi khuyen: voi mo hinh to hop, uu tien consensus.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Nhom dung mot cong cu chay that: nhap thong tin nha, ra gia uoc luong, bang dong gop consensus theo do la, va loi giai thich. Co nhan da kiem toan. Day la diem manh: khong dung o ly thuyet ma trien khai duoc.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 tat nhom da lam bon viec: kiem tra nam phuong phap qua hai cach nhieu tren ba thi truong co khoang tin cay; tim ra tieu chi infidelity dang tin; de xuat consensus va cong cu chay that; va viet bai hoi nghi ICTAI 8 trang. Moi so deu tu code da chay, khong bia.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viec cho Nhat Truong: mo rong cach tao nha that gan giong, so sanh do bam du lieu, do them actionability cho ba thi truong, cap nhat bang hinh. Cach chay: dung cache parquet khoi train lai, chay revision_kc.py ra 3.8 vs 5.1, chay california va ames audit, sua ham donor. Moc tuan 1 den 4.</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viec cho Tai: thu doi cac tham so xem ket qua co doi khong, bao cao do nhay co khoang tin cay, noi voi khai niem nhan qua, dong goi code va README. Cach chay: boot_extra.py ra khoang tin cay, revision_kc.py ra TreeSHAP blend-aware giam tu 9.7 xuong 6.6, doi tham so trong onmanifold_audit.py roi chay lai. Moc tuan 2 den 6.</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 on thay co va cac ban. Tom lai ba y: cach kiem tra giai thich phai bam du lieu that; infidelity la tieu chi dang tin va du bao duoc actionability; nen dung consensus thay mac dinh. Em xin san sang tra loi cau hoi.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img/image1.png"/>
          <p:cNvPicPr>
            <a:picLocks noChangeAspect="1"/>
          </p:cNvPicPr>
          <p:nvPr/>
        </p:nvPicPr>
        <p:blipFill>
          <a:blip r:embed="rId3"/>
          <a:stretch>
            <a:fillRect/>
          </a:stretch>
        </p:blipFill>
        <p:spPr>
          <a:xfrm>
            <a:off x="411480" y="411480"/>
            <a:ext cx="1463040" cy="585216"/>
          </a:xfrm>
          <a:prstGeom prst="rect">
            <a:avLst/>
          </a:prstGeom>
        </p:spPr>
      </p:pic>
      <p:sp>
        <p:nvSpPr>
          <p:cNvPr id="3" name="Text 0"/>
          <p:cNvSpPr/>
          <p:nvPr/>
        </p:nvSpPr>
        <p:spPr>
          <a:xfrm>
            <a:off x="411480" y="1097280"/>
            <a:ext cx="10972800" cy="365760"/>
          </a:xfrm>
          <a:prstGeom prst="rect">
            <a:avLst/>
          </a:prstGeom>
          <a:noFill/>
          <a:ln/>
        </p:spPr>
        <p:txBody>
          <a:bodyPr wrap="square" rtlCol="0" anchor="ctr"/>
          <a:lstStyle/>
          <a:p>
            <a:pPr marL="0" indent="0">
              <a:buNone/>
            </a:pPr>
            <a:r>
              <a:rPr lang="en-US" sz="1200" b="1" dirty="0">
                <a:solidFill>
                  <a:srgbClr val="5A6472"/>
                </a:solidFill>
                <a:latin typeface="Calibri" pitchFamily="34" charset="0"/>
                <a:ea typeface="Calibri" pitchFamily="34" charset="-122"/>
                <a:cs typeface="Calibri" pitchFamily="34" charset="-120"/>
              </a:rPr>
              <a:t>FPT UNIVERSITY  ·  ADY201m — Nhập môn Khoa học Dữ liệu</a:t>
            </a:r>
            <a:endParaRPr lang="en-US" sz="1200" dirty="0"/>
          </a:p>
        </p:txBody>
      </p:sp>
      <p:sp>
        <p:nvSpPr>
          <p:cNvPr id="4" name="Shape 1"/>
          <p:cNvSpPr/>
          <p:nvPr/>
        </p:nvSpPr>
        <p:spPr>
          <a:xfrm>
            <a:off x="1097280" y="2103120"/>
            <a:ext cx="9994392" cy="1645920"/>
          </a:xfrm>
          <a:prstGeom prst="roundRect">
            <a:avLst>
              <a:gd name="adj" fmla="val 6667"/>
            </a:avLst>
          </a:prstGeom>
          <a:solidFill>
            <a:srgbClr val="1A2A5E"/>
          </a:solidFill>
          <a:ln/>
        </p:spPr>
        <p:txBody>
          <a:bodyPr/>
          <a:lstStyle/>
          <a:p>
            <a:endParaRPr/>
          </a:p>
        </p:txBody>
      </p:sp>
      <p:sp>
        <p:nvSpPr>
          <p:cNvPr id="5" name="Text 2"/>
          <p:cNvSpPr/>
          <p:nvPr/>
        </p:nvSpPr>
        <p:spPr>
          <a:xfrm>
            <a:off x="1280160" y="2194560"/>
            <a:ext cx="9601200" cy="1463040"/>
          </a:xfrm>
          <a:prstGeom prst="rect">
            <a:avLst/>
          </a:prstGeom>
          <a:noFill/>
          <a:ln/>
        </p:spPr>
        <p:txBody>
          <a:bodyPr wrap="square" rtlCol="0" anchor="ctr"/>
          <a:lstStyle/>
          <a:p>
            <a:pPr marL="0" indent="0" algn="ctr">
              <a:buNone/>
            </a:pPr>
            <a:r>
              <a:rPr lang="en-US" sz="2700" b="1" dirty="0">
                <a:solidFill>
                  <a:srgbClr val="FFFFFF"/>
                </a:solidFill>
                <a:latin typeface="Cambria" pitchFamily="34" charset="0"/>
                <a:ea typeface="Cambria" pitchFamily="34" charset="-122"/>
                <a:cs typeface="Cambria" pitchFamily="34" charset="-120"/>
              </a:rPr>
              <a:t>Định giá nhà và GIẢI THÍCH có đáng tin không?</a:t>
            </a:r>
            <a:endParaRPr lang="en-US" sz="2700" dirty="0"/>
          </a:p>
        </p:txBody>
      </p:sp>
      <p:sp>
        <p:nvSpPr>
          <p:cNvPr id="6" name="Text 3"/>
          <p:cNvSpPr/>
          <p:nvPr/>
        </p:nvSpPr>
        <p:spPr>
          <a:xfrm>
            <a:off x="1097280" y="3886200"/>
            <a:ext cx="9994392" cy="457200"/>
          </a:xfrm>
          <a:prstGeom prst="rect">
            <a:avLst/>
          </a:prstGeom>
          <a:noFill/>
          <a:ln/>
        </p:spPr>
        <p:txBody>
          <a:bodyPr wrap="square" rtlCol="0" anchor="ctr"/>
          <a:lstStyle/>
          <a:p>
            <a:pPr marL="0" indent="0" algn="ctr">
              <a:buNone/>
            </a:pPr>
            <a:r>
              <a:rPr lang="en-US" sz="1400" b="1" dirty="0">
                <a:solidFill>
                  <a:srgbClr val="2E4A9E"/>
                </a:solidFill>
                <a:latin typeface="Calibri" pitchFamily="34" charset="0"/>
                <a:ea typeface="Calibri" pitchFamily="34" charset="-122"/>
                <a:cs typeface="Calibri" pitchFamily="34" charset="-120"/>
              </a:rPr>
              <a:t>Kiểm tra độ trung thực của các phương pháp giải thích (XAI) cho mô hình định giá nhà</a:t>
            </a:r>
            <a:endParaRPr lang="en-US" sz="1400" dirty="0"/>
          </a:p>
        </p:txBody>
      </p:sp>
      <p:sp>
        <p:nvSpPr>
          <p:cNvPr id="7" name="Text 4"/>
          <p:cNvSpPr/>
          <p:nvPr/>
        </p:nvSpPr>
        <p:spPr>
          <a:xfrm>
            <a:off x="1097280" y="4663440"/>
            <a:ext cx="9994392" cy="365760"/>
          </a:xfrm>
          <a:prstGeom prst="rect">
            <a:avLst/>
          </a:prstGeom>
          <a:noFill/>
          <a:ln/>
        </p:spPr>
        <p:txBody>
          <a:bodyPr wrap="square" rtlCol="0" anchor="ctr"/>
          <a:lstStyle/>
          <a:p>
            <a:pPr marL="0" indent="0" algn="ctr">
              <a:buNone/>
            </a:pPr>
            <a:r>
              <a:rPr lang="en-US" sz="1400" b="1" dirty="0">
                <a:solidFill>
                  <a:srgbClr val="1B1F2A"/>
                </a:solidFill>
                <a:latin typeface="Calibri" pitchFamily="34" charset="0"/>
                <a:ea typeface="Calibri" pitchFamily="34" charset="-122"/>
                <a:cs typeface="Calibri" pitchFamily="34" charset="-120"/>
              </a:rPr>
              <a:t>Nhóm: </a:t>
            </a:r>
            <a:r>
              <a:rPr lang="en-US" sz="1400" dirty="0">
                <a:solidFill>
                  <a:srgbClr val="1B1F2A"/>
                </a:solidFill>
                <a:latin typeface="Calibri" pitchFamily="34" charset="0"/>
                <a:ea typeface="Calibri" pitchFamily="34" charset="-122"/>
                <a:cs typeface="Calibri" pitchFamily="34" charset="-120"/>
              </a:rPr>
              <a:t>Hoang Duc Tai (Tài) · Nhat Truong (Nhật Trường)</a:t>
            </a:r>
            <a:endParaRPr lang="en-US" sz="1400" dirty="0"/>
          </a:p>
        </p:txBody>
      </p:sp>
      <p:sp>
        <p:nvSpPr>
          <p:cNvPr id="8" name="Text 5"/>
          <p:cNvSpPr/>
          <p:nvPr/>
        </p:nvSpPr>
        <p:spPr>
          <a:xfrm>
            <a:off x="1097280" y="5074920"/>
            <a:ext cx="9994392" cy="365760"/>
          </a:xfrm>
          <a:prstGeom prst="rect">
            <a:avLst/>
          </a:prstGeom>
          <a:noFill/>
          <a:ln/>
        </p:spPr>
        <p:txBody>
          <a:bodyPr wrap="square" rtlCol="0" anchor="ctr"/>
          <a:lstStyle/>
          <a:p>
            <a:pPr marL="0" indent="0" algn="ctr">
              <a:buNone/>
            </a:pPr>
            <a:r>
              <a:rPr lang="en-US" sz="1400" b="1" dirty="0">
                <a:solidFill>
                  <a:srgbClr val="1B1F2A"/>
                </a:solidFill>
                <a:latin typeface="Calibri" pitchFamily="34" charset="0"/>
                <a:ea typeface="Calibri" pitchFamily="34" charset="-122"/>
                <a:cs typeface="Calibri" pitchFamily="34" charset="-120"/>
              </a:rPr>
              <a:t>GVHD: Thu Le</a:t>
            </a:r>
            <a:endParaRPr lang="en-US" sz="1400" dirty="0"/>
          </a:p>
        </p:txBody>
      </p:sp>
      <p:sp>
        <p:nvSpPr>
          <p:cNvPr id="9" name="Text 6"/>
          <p:cNvSpPr/>
          <p:nvPr/>
        </p:nvSpPr>
        <p:spPr>
          <a:xfrm>
            <a:off x="1097280" y="5760720"/>
            <a:ext cx="9994392" cy="365760"/>
          </a:xfrm>
          <a:prstGeom prst="rect">
            <a:avLst/>
          </a:prstGeom>
          <a:noFill/>
          <a:ln/>
        </p:spPr>
        <p:txBody>
          <a:bodyPr wrap="square" rtlCol="0" anchor="ctr"/>
          <a:lstStyle/>
          <a:p>
            <a:pPr marL="0" indent="0" algn="ctr">
              <a:buNone/>
            </a:pPr>
            <a:r>
              <a:rPr lang="en-US" sz="1300" i="1" dirty="0">
                <a:solidFill>
                  <a:srgbClr val="5A6472"/>
                </a:solidFill>
                <a:latin typeface="Calibri" pitchFamily="34" charset="0"/>
                <a:ea typeface="Calibri" pitchFamily="34" charset="-122"/>
                <a:cs typeface="Calibri" pitchFamily="34" charset="-120"/>
              </a:rPr>
              <a:t>TP. Hồ Chí Minh,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img/image1.png"/>
          <p:cNvPicPr>
            <a:picLocks noChangeAspect="1"/>
          </p:cNvPicPr>
          <p:nvPr/>
        </p:nvPicPr>
        <p:blipFill>
          <a:blip r:embed="rId3"/>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lang="en-US" sz="2600" b="1" dirty="0">
                <a:solidFill>
                  <a:srgbClr val="1A2A5E"/>
                </a:solidFill>
                <a:latin typeface="Cambria" pitchFamily="34" charset="0"/>
                <a:ea typeface="Cambria" pitchFamily="34" charset="-122"/>
                <a:cs typeface="Cambria" pitchFamily="34" charset="-120"/>
              </a:rPr>
              <a:t>Nội dung báo cáo</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lang="en-US" sz="1300" i="1" dirty="0">
                <a:solidFill>
                  <a:srgbClr val="5A6472"/>
                </a:solidFill>
                <a:latin typeface="Calibri" pitchFamily="34" charset="0"/>
                <a:ea typeface="Calibri" pitchFamily="34" charset="-122"/>
                <a:cs typeface="Calibri" pitchFamily="34" charset="-120"/>
              </a:rPr>
              <a:t>Trình bày đơn giản những gì nhóm đã làm</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a:t>
            </a:r>
            <a:endParaRPr lang="en-US" sz="900" dirty="0"/>
          </a:p>
        </p:txBody>
      </p:sp>
      <p:sp>
        <p:nvSpPr>
          <p:cNvPr id="6" name="Shape 3"/>
          <p:cNvSpPr/>
          <p:nvPr/>
        </p:nvSpPr>
        <p:spPr>
          <a:xfrm>
            <a:off x="548640" y="2011680"/>
            <a:ext cx="3108960" cy="914400"/>
          </a:xfrm>
          <a:prstGeom prst="roundRect">
            <a:avLst>
              <a:gd name="adj" fmla="val 6000"/>
            </a:avLst>
          </a:prstGeom>
          <a:solidFill>
            <a:srgbClr val="1A2A5E"/>
          </a:solidFill>
          <a:ln/>
        </p:spPr>
        <p:txBody>
          <a:bodyPr/>
          <a:lstStyle/>
          <a:p>
            <a:endParaRPr/>
          </a:p>
        </p:txBody>
      </p:sp>
      <p:sp>
        <p:nvSpPr>
          <p:cNvPr id="7" name="Text 4"/>
          <p:cNvSpPr/>
          <p:nvPr/>
        </p:nvSpPr>
        <p:spPr>
          <a:xfrm>
            <a:off x="685800" y="2011680"/>
            <a:ext cx="2834640" cy="914400"/>
          </a:xfrm>
          <a:prstGeom prst="rect">
            <a:avLst/>
          </a:prstGeom>
          <a:noFill/>
          <a:ln/>
        </p:spPr>
        <p:txBody>
          <a:bodyPr wrap="square" rtlCol="0" anchor="ctr"/>
          <a:lstStyle/>
          <a:p>
            <a:pPr marL="0" indent="0" algn="l">
              <a:buNone/>
            </a:pPr>
            <a:r>
              <a:rPr lang="en-US" sz="1300" dirty="0">
                <a:solidFill>
                  <a:srgbClr val="E87722"/>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1. Bài toán &amp; dữ liệu</a:t>
            </a:r>
            <a:endParaRPr lang="en-US" sz="1300" dirty="0"/>
          </a:p>
        </p:txBody>
      </p:sp>
      <p:sp>
        <p:nvSpPr>
          <p:cNvPr id="8" name="Shape 5"/>
          <p:cNvSpPr/>
          <p:nvPr/>
        </p:nvSpPr>
        <p:spPr>
          <a:xfrm>
            <a:off x="3840480" y="2011680"/>
            <a:ext cx="7772400" cy="914400"/>
          </a:xfrm>
          <a:prstGeom prst="roundRect">
            <a:avLst>
              <a:gd name="adj" fmla="val 6000"/>
            </a:avLst>
          </a:prstGeom>
          <a:solidFill>
            <a:srgbClr val="F5F7FC"/>
          </a:solidFill>
          <a:ln/>
        </p:spPr>
        <p:txBody>
          <a:bodyPr/>
          <a:lstStyle/>
          <a:p>
            <a:endParaRPr/>
          </a:p>
        </p:txBody>
      </p:sp>
      <p:sp>
        <p:nvSpPr>
          <p:cNvPr id="9" name="Text 6"/>
          <p:cNvSpPr/>
          <p:nvPr/>
        </p:nvSpPr>
        <p:spPr>
          <a:xfrm>
            <a:off x="4023360" y="2011680"/>
            <a:ext cx="7406640" cy="914400"/>
          </a:xfrm>
          <a:prstGeom prst="rect">
            <a:avLst/>
          </a:prstGeom>
          <a:noFill/>
          <a:ln/>
        </p:spPr>
        <p:txBody>
          <a:bodyPr wrap="square" rtlCol="0" anchor="ctr"/>
          <a:lstStyle/>
          <a:p>
            <a:pPr marL="0" indent="0" algn="l">
              <a:buNone/>
            </a:pPr>
            <a:r>
              <a:rPr lang="en-US" sz="1200" dirty="0">
                <a:solidFill>
                  <a:srgbClr val="1B1F2A"/>
                </a:solidFill>
                <a:latin typeface="Calibri" pitchFamily="34" charset="0"/>
                <a:ea typeface="Calibri" pitchFamily="34" charset="-122"/>
                <a:cs typeface="Calibri" pitchFamily="34" charset="-120"/>
              </a:rPr>
              <a:t>Định giá nhà bằng máy học và nhu cầu giải thích.</a:t>
            </a:r>
            <a:endParaRPr lang="en-US" sz="1200" dirty="0"/>
          </a:p>
        </p:txBody>
      </p:sp>
      <p:sp>
        <p:nvSpPr>
          <p:cNvPr id="10" name="Shape 7"/>
          <p:cNvSpPr/>
          <p:nvPr/>
        </p:nvSpPr>
        <p:spPr>
          <a:xfrm>
            <a:off x="548640" y="3108960"/>
            <a:ext cx="3108960" cy="914400"/>
          </a:xfrm>
          <a:prstGeom prst="roundRect">
            <a:avLst>
              <a:gd name="adj" fmla="val 6000"/>
            </a:avLst>
          </a:prstGeom>
          <a:solidFill>
            <a:srgbClr val="1A2A5E"/>
          </a:solidFill>
          <a:ln/>
        </p:spPr>
        <p:txBody>
          <a:bodyPr/>
          <a:lstStyle/>
          <a:p>
            <a:endParaRPr/>
          </a:p>
        </p:txBody>
      </p:sp>
      <p:sp>
        <p:nvSpPr>
          <p:cNvPr id="11" name="Text 8"/>
          <p:cNvSpPr/>
          <p:nvPr/>
        </p:nvSpPr>
        <p:spPr>
          <a:xfrm>
            <a:off x="685800" y="3108960"/>
            <a:ext cx="2834640" cy="914400"/>
          </a:xfrm>
          <a:prstGeom prst="rect">
            <a:avLst/>
          </a:prstGeom>
          <a:noFill/>
          <a:ln/>
        </p:spPr>
        <p:txBody>
          <a:bodyPr wrap="square" rtlCol="0" anchor="ctr"/>
          <a:lstStyle/>
          <a:p>
            <a:pPr marL="0" indent="0" algn="l">
              <a:buNone/>
            </a:pPr>
            <a:r>
              <a:rPr lang="en-US" sz="1300" dirty="0">
                <a:solidFill>
                  <a:srgbClr val="E87722"/>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2. Ý tưởng &amp; cách làm</a:t>
            </a:r>
            <a:endParaRPr lang="en-US" sz="1300" dirty="0"/>
          </a:p>
        </p:txBody>
      </p:sp>
      <p:sp>
        <p:nvSpPr>
          <p:cNvPr id="12" name="Shape 9"/>
          <p:cNvSpPr/>
          <p:nvPr/>
        </p:nvSpPr>
        <p:spPr>
          <a:xfrm>
            <a:off x="3840480" y="3108960"/>
            <a:ext cx="7772400" cy="914400"/>
          </a:xfrm>
          <a:prstGeom prst="roundRect">
            <a:avLst>
              <a:gd name="adj" fmla="val 6000"/>
            </a:avLst>
          </a:prstGeom>
          <a:solidFill>
            <a:srgbClr val="F5F7FC"/>
          </a:solidFill>
          <a:ln/>
        </p:spPr>
        <p:txBody>
          <a:bodyPr/>
          <a:lstStyle/>
          <a:p>
            <a:endParaRPr/>
          </a:p>
        </p:txBody>
      </p:sp>
      <p:sp>
        <p:nvSpPr>
          <p:cNvPr id="13" name="Text 10"/>
          <p:cNvSpPr/>
          <p:nvPr/>
        </p:nvSpPr>
        <p:spPr>
          <a:xfrm>
            <a:off x="4023360" y="3108960"/>
            <a:ext cx="7406640" cy="914400"/>
          </a:xfrm>
          <a:prstGeom prst="rect">
            <a:avLst/>
          </a:prstGeom>
          <a:noFill/>
          <a:ln/>
        </p:spPr>
        <p:txBody>
          <a:bodyPr wrap="square" rtlCol="0" anchor="ctr"/>
          <a:lstStyle/>
          <a:p>
            <a:pPr marL="0" indent="0" algn="l">
              <a:buNone/>
            </a:pPr>
            <a:r>
              <a:rPr lang="en-US" sz="1200" dirty="0">
                <a:solidFill>
                  <a:srgbClr val="1B1F2A"/>
                </a:solidFill>
                <a:latin typeface="Calibri" pitchFamily="34" charset="0"/>
                <a:ea typeface="Calibri" pitchFamily="34" charset="-122"/>
                <a:cs typeface="Calibri" pitchFamily="34" charset="-120"/>
              </a:rPr>
              <a:t>Kiểm tra 5 phương pháp giải thích theo 2 cách nhiễu.</a:t>
            </a:r>
            <a:endParaRPr lang="en-US" sz="1200" dirty="0"/>
          </a:p>
        </p:txBody>
      </p:sp>
      <p:sp>
        <p:nvSpPr>
          <p:cNvPr id="14" name="Shape 11"/>
          <p:cNvSpPr/>
          <p:nvPr/>
        </p:nvSpPr>
        <p:spPr>
          <a:xfrm>
            <a:off x="548640" y="4206240"/>
            <a:ext cx="3108960" cy="914400"/>
          </a:xfrm>
          <a:prstGeom prst="roundRect">
            <a:avLst>
              <a:gd name="adj" fmla="val 6000"/>
            </a:avLst>
          </a:prstGeom>
          <a:solidFill>
            <a:srgbClr val="1A2A5E"/>
          </a:solidFill>
          <a:ln/>
        </p:spPr>
        <p:txBody>
          <a:bodyPr/>
          <a:lstStyle/>
          <a:p>
            <a:endParaRPr/>
          </a:p>
        </p:txBody>
      </p:sp>
      <p:sp>
        <p:nvSpPr>
          <p:cNvPr id="15" name="Text 12"/>
          <p:cNvSpPr/>
          <p:nvPr/>
        </p:nvSpPr>
        <p:spPr>
          <a:xfrm>
            <a:off x="685800" y="4206240"/>
            <a:ext cx="2834640" cy="914400"/>
          </a:xfrm>
          <a:prstGeom prst="rect">
            <a:avLst/>
          </a:prstGeom>
          <a:noFill/>
          <a:ln/>
        </p:spPr>
        <p:txBody>
          <a:bodyPr wrap="square" rtlCol="0" anchor="ctr"/>
          <a:lstStyle/>
          <a:p>
            <a:pPr marL="0" indent="0" algn="l">
              <a:buNone/>
            </a:pPr>
            <a:r>
              <a:rPr lang="en-US" sz="1300" dirty="0">
                <a:solidFill>
                  <a:srgbClr val="E87722"/>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3. Kết quả chính</a:t>
            </a:r>
            <a:endParaRPr lang="en-US" sz="1300" dirty="0"/>
          </a:p>
        </p:txBody>
      </p:sp>
      <p:sp>
        <p:nvSpPr>
          <p:cNvPr id="16" name="Shape 13"/>
          <p:cNvSpPr/>
          <p:nvPr/>
        </p:nvSpPr>
        <p:spPr>
          <a:xfrm>
            <a:off x="3840480" y="4206240"/>
            <a:ext cx="7772400" cy="914400"/>
          </a:xfrm>
          <a:prstGeom prst="roundRect">
            <a:avLst>
              <a:gd name="adj" fmla="val 6000"/>
            </a:avLst>
          </a:prstGeom>
          <a:solidFill>
            <a:srgbClr val="F5F7FC"/>
          </a:solidFill>
          <a:ln/>
        </p:spPr>
        <p:txBody>
          <a:bodyPr/>
          <a:lstStyle/>
          <a:p>
            <a:endParaRPr/>
          </a:p>
        </p:txBody>
      </p:sp>
      <p:sp>
        <p:nvSpPr>
          <p:cNvPr id="17" name="Text 14"/>
          <p:cNvSpPr/>
          <p:nvPr/>
        </p:nvSpPr>
        <p:spPr>
          <a:xfrm>
            <a:off x="4023360" y="4206240"/>
            <a:ext cx="7406640" cy="914400"/>
          </a:xfrm>
          <a:prstGeom prst="rect">
            <a:avLst/>
          </a:prstGeom>
          <a:noFill/>
          <a:ln/>
        </p:spPr>
        <p:txBody>
          <a:bodyPr wrap="square" rtlCol="0" anchor="ctr"/>
          <a:lstStyle/>
          <a:p>
            <a:pPr marL="0" indent="0" algn="l">
              <a:buNone/>
            </a:pPr>
            <a:r>
              <a:rPr lang="en-US" sz="1200" dirty="0">
                <a:solidFill>
                  <a:srgbClr val="1B1F2A"/>
                </a:solidFill>
                <a:latin typeface="Calibri" pitchFamily="34" charset="0"/>
                <a:ea typeface="Calibri" pitchFamily="34" charset="-122"/>
                <a:cs typeface="Calibri" pitchFamily="34" charset="-120"/>
              </a:rPr>
              <a:t>Tiêu chí nào đáng tin, phương pháp nào nên dùng.</a:t>
            </a:r>
            <a:endParaRPr lang="en-US" sz="1200" dirty="0"/>
          </a:p>
        </p:txBody>
      </p:sp>
      <p:sp>
        <p:nvSpPr>
          <p:cNvPr id="18" name="Shape 15"/>
          <p:cNvSpPr/>
          <p:nvPr/>
        </p:nvSpPr>
        <p:spPr>
          <a:xfrm>
            <a:off x="548640" y="5303520"/>
            <a:ext cx="3108960" cy="914400"/>
          </a:xfrm>
          <a:prstGeom prst="roundRect">
            <a:avLst>
              <a:gd name="adj" fmla="val 6000"/>
            </a:avLst>
          </a:prstGeom>
          <a:solidFill>
            <a:srgbClr val="1A2A5E"/>
          </a:solidFill>
          <a:ln/>
        </p:spPr>
        <p:txBody>
          <a:bodyPr/>
          <a:lstStyle/>
          <a:p>
            <a:endParaRPr/>
          </a:p>
        </p:txBody>
      </p:sp>
      <p:sp>
        <p:nvSpPr>
          <p:cNvPr id="19" name="Text 16"/>
          <p:cNvSpPr/>
          <p:nvPr/>
        </p:nvSpPr>
        <p:spPr>
          <a:xfrm>
            <a:off x="685800" y="5303520"/>
            <a:ext cx="2834640" cy="914400"/>
          </a:xfrm>
          <a:prstGeom prst="rect">
            <a:avLst/>
          </a:prstGeom>
          <a:noFill/>
          <a:ln/>
        </p:spPr>
        <p:txBody>
          <a:bodyPr wrap="square" rtlCol="0" anchor="ctr"/>
          <a:lstStyle/>
          <a:p>
            <a:pPr marL="0" indent="0" algn="l">
              <a:buNone/>
            </a:pPr>
            <a:r>
              <a:rPr lang="en-US" sz="1300" dirty="0">
                <a:solidFill>
                  <a:srgbClr val="E87722"/>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4. Công cụ &amp; giao việc</a:t>
            </a:r>
            <a:endParaRPr lang="en-US" sz="1300" dirty="0"/>
          </a:p>
        </p:txBody>
      </p:sp>
      <p:sp>
        <p:nvSpPr>
          <p:cNvPr id="20" name="Shape 17"/>
          <p:cNvSpPr/>
          <p:nvPr/>
        </p:nvSpPr>
        <p:spPr>
          <a:xfrm>
            <a:off x="3840480" y="5303520"/>
            <a:ext cx="7772400" cy="914400"/>
          </a:xfrm>
          <a:prstGeom prst="roundRect">
            <a:avLst>
              <a:gd name="adj" fmla="val 6000"/>
            </a:avLst>
          </a:prstGeom>
          <a:solidFill>
            <a:srgbClr val="F5F7FC"/>
          </a:solidFill>
          <a:ln/>
        </p:spPr>
        <p:txBody>
          <a:bodyPr/>
          <a:lstStyle/>
          <a:p>
            <a:endParaRPr/>
          </a:p>
        </p:txBody>
      </p:sp>
      <p:sp>
        <p:nvSpPr>
          <p:cNvPr id="21" name="Text 18"/>
          <p:cNvSpPr/>
          <p:nvPr/>
        </p:nvSpPr>
        <p:spPr>
          <a:xfrm>
            <a:off x="4023360" y="5303520"/>
            <a:ext cx="7406640" cy="914400"/>
          </a:xfrm>
          <a:prstGeom prst="rect">
            <a:avLst/>
          </a:prstGeom>
          <a:noFill/>
          <a:ln/>
        </p:spPr>
        <p:txBody>
          <a:bodyPr wrap="square" rtlCol="0" anchor="ctr"/>
          <a:lstStyle/>
          <a:p>
            <a:pPr marL="0" indent="0" algn="l">
              <a:buNone/>
            </a:pPr>
            <a:r>
              <a:rPr lang="en-US" sz="1200" dirty="0">
                <a:solidFill>
                  <a:srgbClr val="1B1F2A"/>
                </a:solidFill>
                <a:latin typeface="Calibri" pitchFamily="34" charset="0"/>
                <a:ea typeface="Calibri" pitchFamily="34" charset="-122"/>
                <a:cs typeface="Calibri" pitchFamily="34" charset="-120"/>
              </a:rPr>
              <a:t>Dịch vụ chạy thật và việc tiếp theo cho nhóm.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img/image1.png"/>
          <p:cNvPicPr>
            <a:picLocks noChangeAspect="1"/>
          </p:cNvPicPr>
          <p:nvPr/>
        </p:nvPicPr>
        <p:blipFill>
          <a:blip r:embed="rId3"/>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lang="en-US" sz="2600" b="1" dirty="0">
                <a:solidFill>
                  <a:srgbClr val="1A2A5E"/>
                </a:solidFill>
                <a:latin typeface="Cambria" pitchFamily="34" charset="0"/>
                <a:ea typeface="Cambria" pitchFamily="34" charset="-122"/>
                <a:cs typeface="Cambria" pitchFamily="34" charset="-120"/>
              </a:rPr>
              <a:t>Bài toán</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lang="en-US" sz="1300" i="1" dirty="0">
                <a:solidFill>
                  <a:srgbClr val="5A6472"/>
                </a:solidFill>
                <a:latin typeface="Calibri" pitchFamily="34" charset="0"/>
                <a:ea typeface="Calibri" pitchFamily="34" charset="-122"/>
                <a:cs typeface="Calibri" pitchFamily="34" charset="-120"/>
              </a:rPr>
              <a:t>Dự đoán giá nhà, rồi GIẢI THÍCH vì sao</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2</a:t>
            </a:r>
            <a:endParaRPr lang="en-US" sz="900" dirty="0"/>
          </a:p>
        </p:txBody>
      </p:sp>
      <p:sp>
        <p:nvSpPr>
          <p:cNvPr id="6" name="Text 3"/>
          <p:cNvSpPr/>
          <p:nvPr/>
        </p:nvSpPr>
        <p:spPr>
          <a:xfrm>
            <a:off x="548640" y="2011680"/>
            <a:ext cx="6035040" cy="4114800"/>
          </a:xfrm>
          <a:prstGeom prst="rect">
            <a:avLst/>
          </a:prstGeom>
          <a:noFill/>
          <a:ln/>
        </p:spPr>
        <p:txBody>
          <a:bodyPr wrap="square" rtlCol="0" anchor="t"/>
          <a:lstStyle/>
          <a:p>
            <a:pPr marL="177800" indent="-177800">
              <a:lnSpc>
                <a:spcPct val="105000"/>
              </a:lnSpc>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Mô hình máy học dự đoán giá nhà từ các đặc trưng (diện tích, vị trí, năm xây...).</a:t>
            </a:r>
            <a:endParaRPr lang="en-US" sz="1400" dirty="0"/>
          </a:p>
          <a:p>
            <a:pPr marL="177800" indent="-177800">
              <a:lnSpc>
                <a:spcPct val="105000"/>
              </a:lnSpc>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Khi dùng thật (cho vay, định thuế), mỗi mức giá cần một lời giải thích.</a:t>
            </a:r>
            <a:endParaRPr lang="en-US" sz="1400" dirty="0"/>
          </a:p>
          <a:p>
            <a:pPr marL="177800" indent="-177800">
              <a:lnSpc>
                <a:spcPct val="105000"/>
              </a:lnSpc>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Có nhiều phương pháp giải thích khác nhau, cho kết quả khác nhau.</a:t>
            </a:r>
            <a:endParaRPr lang="en-US" sz="1400" dirty="0"/>
          </a:p>
          <a:p>
            <a:pPr marL="177800" indent="-177800">
              <a:lnSpc>
                <a:spcPct val="105000"/>
              </a:lnSpc>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Câu hỏi: lời giải thích có TRUNG THỰC với mô hình không?</a:t>
            </a:r>
            <a:endParaRPr lang="en-US" sz="1400" dirty="0"/>
          </a:p>
        </p:txBody>
      </p:sp>
      <p:sp>
        <p:nvSpPr>
          <p:cNvPr id="7" name="Shape 4"/>
          <p:cNvSpPr/>
          <p:nvPr/>
        </p:nvSpPr>
        <p:spPr>
          <a:xfrm>
            <a:off x="6858000" y="2011680"/>
            <a:ext cx="4754880" cy="4023360"/>
          </a:xfrm>
          <a:prstGeom prst="roundRect">
            <a:avLst>
              <a:gd name="adj" fmla="val 1818"/>
            </a:avLst>
          </a:prstGeom>
          <a:solidFill>
            <a:srgbClr val="EEF2FB"/>
          </a:solidFill>
          <a:ln w="12700">
            <a:solidFill>
              <a:srgbClr val="2E4A9E"/>
            </a:solidFill>
            <a:prstDash val="solid"/>
          </a:ln>
        </p:spPr>
        <p:txBody>
          <a:bodyPr/>
          <a:lstStyle/>
          <a:p>
            <a:endParaRPr/>
          </a:p>
        </p:txBody>
      </p:sp>
      <p:sp>
        <p:nvSpPr>
          <p:cNvPr id="8" name="Text 5"/>
          <p:cNvSpPr/>
          <p:nvPr/>
        </p:nvSpPr>
        <p:spPr>
          <a:xfrm>
            <a:off x="7086600" y="2194560"/>
            <a:ext cx="4297680" cy="457200"/>
          </a:xfrm>
          <a:prstGeom prst="rect">
            <a:avLst/>
          </a:prstGeom>
          <a:noFill/>
          <a:ln/>
        </p:spPr>
        <p:txBody>
          <a:bodyPr wrap="square" rtlCol="0" anchor="ctr"/>
          <a:lstStyle/>
          <a:p>
            <a:pPr marL="0" indent="0">
              <a:buNone/>
            </a:pPr>
            <a:r>
              <a:rPr lang="en-US" sz="1500" b="1" dirty="0">
                <a:solidFill>
                  <a:srgbClr val="1A2A5E"/>
                </a:solidFill>
                <a:latin typeface="Calibri" pitchFamily="34" charset="0"/>
                <a:ea typeface="Calibri" pitchFamily="34" charset="-122"/>
                <a:cs typeface="Calibri" pitchFamily="34" charset="-120"/>
              </a:rPr>
              <a:t>Vì sao quan trọng</a:t>
            </a:r>
            <a:endParaRPr lang="en-US" sz="1500" dirty="0"/>
          </a:p>
        </p:txBody>
      </p:sp>
      <p:sp>
        <p:nvSpPr>
          <p:cNvPr id="9" name="Text 6"/>
          <p:cNvSpPr/>
          <p:nvPr/>
        </p:nvSpPr>
        <p:spPr>
          <a:xfrm>
            <a:off x="7086600" y="2788920"/>
            <a:ext cx="4297680" cy="3108960"/>
          </a:xfrm>
          <a:prstGeom prst="rect">
            <a:avLst/>
          </a:prstGeom>
          <a:noFill/>
          <a:ln/>
        </p:spPr>
        <p:txBody>
          <a:bodyPr wrap="square" rtlCol="0" anchor="t"/>
          <a:lstStyle/>
          <a:p>
            <a:pPr marL="0" indent="0">
              <a:spcAft>
                <a:spcPts val="800"/>
              </a:spcAft>
              <a:buNone/>
            </a:pPr>
            <a:r>
              <a:rPr lang="en-US" sz="1250" dirty="0">
                <a:solidFill>
                  <a:srgbClr val="1B1F2A"/>
                </a:solidFill>
                <a:latin typeface="Calibri" pitchFamily="34" charset="0"/>
                <a:ea typeface="Calibri" pitchFamily="34" charset="-122"/>
                <a:cs typeface="Calibri" pitchFamily="34" charset="-120"/>
              </a:rPr>
              <a:t>Định giá sai → hại người vay/người mua.</a:t>
            </a:r>
            <a:endParaRPr lang="en-US" sz="1250" dirty="0"/>
          </a:p>
          <a:p>
            <a:pPr marL="0" indent="0">
              <a:spcAft>
                <a:spcPts val="800"/>
              </a:spcAft>
              <a:buNone/>
            </a:pPr>
            <a:r>
              <a:rPr lang="en-US" sz="1250" dirty="0">
                <a:solidFill>
                  <a:srgbClr val="1B1F2A"/>
                </a:solidFill>
                <a:latin typeface="Calibri" pitchFamily="34" charset="0"/>
                <a:ea typeface="Calibri" pitchFamily="34" charset="-122"/>
                <a:cs typeface="Calibri" pitchFamily="34" charset="-120"/>
              </a:rPr>
              <a:t>Giải thích sai còn nguy hơn vì tạo niềm tin sai.</a:t>
            </a:r>
            <a:endParaRPr lang="en-US" sz="1250" dirty="0"/>
          </a:p>
          <a:p>
            <a:pPr marL="0" indent="0">
              <a:spcAft>
                <a:spcPts val="800"/>
              </a:spcAft>
              <a:buNone/>
            </a:pPr>
            <a:r>
              <a:rPr lang="en-US" sz="1250" dirty="0">
                <a:solidFill>
                  <a:srgbClr val="1B1F2A"/>
                </a:solidFill>
                <a:latin typeface="Calibri" pitchFamily="34" charset="0"/>
                <a:ea typeface="Calibri" pitchFamily="34" charset="-122"/>
                <a:cs typeface="Calibri" pitchFamily="34" charset="-120"/>
              </a:rPr>
              <a:t>Cần cách KIỂM TRA độ trung thực của giải thích.</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img/image1.png"/>
          <p:cNvPicPr>
            <a:picLocks noChangeAspect="1"/>
          </p:cNvPicPr>
          <p:nvPr/>
        </p:nvPicPr>
        <p:blipFill>
          <a:blip r:embed="rId3"/>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lang="en-US" sz="2600" b="1" dirty="0">
                <a:solidFill>
                  <a:srgbClr val="1A2A5E"/>
                </a:solidFill>
                <a:latin typeface="Cambria" pitchFamily="34" charset="0"/>
                <a:ea typeface="Cambria" pitchFamily="34" charset="-122"/>
                <a:cs typeface="Cambria" pitchFamily="34" charset="-120"/>
              </a:rPr>
              <a:t>Dữ liệu: ba thị trường nhà</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lang="en-US" sz="1300" i="1" dirty="0">
                <a:solidFill>
                  <a:srgbClr val="5A6472"/>
                </a:solidFill>
                <a:latin typeface="Calibri" pitchFamily="34" charset="0"/>
                <a:ea typeface="Calibri" pitchFamily="34" charset="-122"/>
                <a:cs typeface="Calibri" pitchFamily="34" charset="-120"/>
              </a:rPr>
              <a:t>Đa dạng để kiểm tra tính khái quát</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3</a:t>
            </a:r>
            <a:endParaRPr lang="en-US" sz="900" dirty="0"/>
          </a:p>
        </p:txBody>
      </p:sp>
      <p:sp>
        <p:nvSpPr>
          <p:cNvPr id="6" name="Text 3"/>
          <p:cNvSpPr/>
          <p:nvPr/>
        </p:nvSpPr>
        <p:spPr>
          <a:xfrm>
            <a:off x="548640" y="2286000"/>
            <a:ext cx="3514344" cy="1188720"/>
          </a:xfrm>
          <a:prstGeom prst="rect">
            <a:avLst/>
          </a:prstGeom>
          <a:noFill/>
          <a:ln/>
        </p:spPr>
        <p:txBody>
          <a:bodyPr wrap="square" rtlCol="0" anchor="ctr"/>
          <a:lstStyle/>
          <a:p>
            <a:pPr marL="0" indent="0" algn="ctr">
              <a:buNone/>
            </a:pPr>
            <a:r>
              <a:rPr lang="en-US" sz="4000" b="1" dirty="0">
                <a:solidFill>
                  <a:srgbClr val="1A2A5E"/>
                </a:solidFill>
                <a:latin typeface="Cambria" pitchFamily="34" charset="0"/>
                <a:ea typeface="Cambria" pitchFamily="34" charset="-122"/>
                <a:cs typeface="Cambria" pitchFamily="34" charset="-120"/>
              </a:rPr>
              <a:t>553k</a:t>
            </a:r>
            <a:endParaRPr lang="en-US" sz="4000" dirty="0"/>
          </a:p>
        </p:txBody>
      </p:sp>
      <p:sp>
        <p:nvSpPr>
          <p:cNvPr id="7" name="Text 4"/>
          <p:cNvSpPr/>
          <p:nvPr/>
        </p:nvSpPr>
        <p:spPr>
          <a:xfrm>
            <a:off x="548640" y="3474720"/>
            <a:ext cx="3514344" cy="822960"/>
          </a:xfrm>
          <a:prstGeom prst="rect">
            <a:avLst/>
          </a:prstGeom>
          <a:noFill/>
          <a:ln/>
        </p:spPr>
        <p:txBody>
          <a:bodyPr wrap="square" rtlCol="0" anchor="ctr"/>
          <a:lstStyle/>
          <a:p>
            <a:pPr marL="0" indent="0" algn="ctr">
              <a:buNone/>
            </a:pPr>
            <a:r>
              <a:rPr lang="en-US" sz="1300" dirty="0">
                <a:solidFill>
                  <a:srgbClr val="5A6472"/>
                </a:solidFill>
                <a:latin typeface="Calibri" pitchFamily="34" charset="0"/>
                <a:ea typeface="Calibri" pitchFamily="34" charset="-122"/>
                <a:cs typeface="Calibri" pitchFamily="34" charset="-120"/>
              </a:rPr>
              <a:t>King County</a:t>
            </a:r>
            <a:endParaRPr lang="en-US" sz="1300" dirty="0"/>
          </a:p>
          <a:p>
            <a:pPr marL="0" indent="0" algn="ctr">
              <a:buNone/>
            </a:pPr>
            <a:r>
              <a:rPr lang="en-US" sz="1300" dirty="0">
                <a:solidFill>
                  <a:srgbClr val="5A6472"/>
                </a:solidFill>
                <a:latin typeface="Calibri" pitchFamily="34" charset="0"/>
                <a:ea typeface="Calibri" pitchFamily="34" charset="-122"/>
                <a:cs typeface="Calibri" pitchFamily="34" charset="-120"/>
              </a:rPr>
              <a:t>(Mỹ)</a:t>
            </a:r>
            <a:endParaRPr lang="en-US" sz="1300" dirty="0"/>
          </a:p>
        </p:txBody>
      </p:sp>
      <p:sp>
        <p:nvSpPr>
          <p:cNvPr id="8" name="Text 5"/>
          <p:cNvSpPr/>
          <p:nvPr/>
        </p:nvSpPr>
        <p:spPr>
          <a:xfrm>
            <a:off x="4245864" y="2286000"/>
            <a:ext cx="3514344" cy="1188720"/>
          </a:xfrm>
          <a:prstGeom prst="rect">
            <a:avLst/>
          </a:prstGeom>
          <a:noFill/>
          <a:ln/>
        </p:spPr>
        <p:txBody>
          <a:bodyPr wrap="square" rtlCol="0" anchor="ctr"/>
          <a:lstStyle/>
          <a:p>
            <a:pPr marL="0" indent="0" algn="ctr">
              <a:buNone/>
            </a:pPr>
            <a:r>
              <a:rPr lang="en-US" sz="4000" b="1" dirty="0">
                <a:solidFill>
                  <a:srgbClr val="2E4A9E"/>
                </a:solidFill>
                <a:latin typeface="Cambria" pitchFamily="34" charset="0"/>
                <a:ea typeface="Cambria" pitchFamily="34" charset="-122"/>
                <a:cs typeface="Cambria" pitchFamily="34" charset="-120"/>
              </a:rPr>
              <a:t>20.6k</a:t>
            </a:r>
            <a:endParaRPr lang="en-US" sz="4000" dirty="0"/>
          </a:p>
        </p:txBody>
      </p:sp>
      <p:sp>
        <p:nvSpPr>
          <p:cNvPr id="9" name="Text 6"/>
          <p:cNvSpPr/>
          <p:nvPr/>
        </p:nvSpPr>
        <p:spPr>
          <a:xfrm>
            <a:off x="4245864" y="3474720"/>
            <a:ext cx="3514344" cy="822960"/>
          </a:xfrm>
          <a:prstGeom prst="rect">
            <a:avLst/>
          </a:prstGeom>
          <a:noFill/>
          <a:ln/>
        </p:spPr>
        <p:txBody>
          <a:bodyPr wrap="square" rtlCol="0" anchor="ctr"/>
          <a:lstStyle/>
          <a:p>
            <a:pPr marL="0" indent="0" algn="ctr">
              <a:buNone/>
            </a:pPr>
            <a:r>
              <a:rPr lang="en-US" sz="1300" dirty="0">
                <a:solidFill>
                  <a:srgbClr val="5A6472"/>
                </a:solidFill>
                <a:latin typeface="Calibri" pitchFamily="34" charset="0"/>
                <a:ea typeface="Calibri" pitchFamily="34" charset="-122"/>
                <a:cs typeface="Calibri" pitchFamily="34" charset="-120"/>
              </a:rPr>
              <a:t>California</a:t>
            </a:r>
            <a:endParaRPr lang="en-US" sz="1300" dirty="0"/>
          </a:p>
          <a:p>
            <a:pPr marL="0" indent="0" algn="ctr">
              <a:buNone/>
            </a:pPr>
            <a:r>
              <a:rPr lang="en-US" sz="1300" dirty="0">
                <a:solidFill>
                  <a:srgbClr val="5A6472"/>
                </a:solidFill>
                <a:latin typeface="Calibri" pitchFamily="34" charset="0"/>
                <a:ea typeface="Calibri" pitchFamily="34" charset="-122"/>
                <a:cs typeface="Calibri" pitchFamily="34" charset="-120"/>
              </a:rPr>
              <a:t>(Mỹ)</a:t>
            </a:r>
            <a:endParaRPr lang="en-US" sz="1300" dirty="0"/>
          </a:p>
        </p:txBody>
      </p:sp>
      <p:sp>
        <p:nvSpPr>
          <p:cNvPr id="10" name="Text 7"/>
          <p:cNvSpPr/>
          <p:nvPr/>
        </p:nvSpPr>
        <p:spPr>
          <a:xfrm>
            <a:off x="7943088" y="2286000"/>
            <a:ext cx="3514344" cy="1188720"/>
          </a:xfrm>
          <a:prstGeom prst="rect">
            <a:avLst/>
          </a:prstGeom>
          <a:noFill/>
          <a:ln/>
        </p:spPr>
        <p:txBody>
          <a:bodyPr wrap="square" rtlCol="0" anchor="ctr"/>
          <a:lstStyle/>
          <a:p>
            <a:pPr marL="0" indent="0" algn="ctr">
              <a:buNone/>
            </a:pPr>
            <a:r>
              <a:rPr lang="en-US" sz="4000" b="1" dirty="0">
                <a:solidFill>
                  <a:srgbClr val="1A2A5E"/>
                </a:solidFill>
                <a:latin typeface="Cambria" pitchFamily="34" charset="0"/>
                <a:ea typeface="Cambria" pitchFamily="34" charset="-122"/>
                <a:cs typeface="Cambria" pitchFamily="34" charset="-120"/>
              </a:rPr>
              <a:t>1.5k</a:t>
            </a:r>
            <a:endParaRPr lang="en-US" sz="4000" dirty="0"/>
          </a:p>
        </p:txBody>
      </p:sp>
      <p:sp>
        <p:nvSpPr>
          <p:cNvPr id="11" name="Text 8"/>
          <p:cNvSpPr/>
          <p:nvPr/>
        </p:nvSpPr>
        <p:spPr>
          <a:xfrm>
            <a:off x="7943088" y="3474720"/>
            <a:ext cx="3514344" cy="822960"/>
          </a:xfrm>
          <a:prstGeom prst="rect">
            <a:avLst/>
          </a:prstGeom>
          <a:noFill/>
          <a:ln/>
        </p:spPr>
        <p:txBody>
          <a:bodyPr wrap="square" rtlCol="0" anchor="ctr"/>
          <a:lstStyle/>
          <a:p>
            <a:pPr marL="0" indent="0" algn="ctr">
              <a:buNone/>
            </a:pPr>
            <a:r>
              <a:rPr lang="en-US" sz="1300" dirty="0">
                <a:solidFill>
                  <a:srgbClr val="5A6472"/>
                </a:solidFill>
                <a:latin typeface="Calibri" pitchFamily="34" charset="0"/>
                <a:ea typeface="Calibri" pitchFamily="34" charset="-122"/>
                <a:cs typeface="Calibri" pitchFamily="34" charset="-120"/>
              </a:rPr>
              <a:t>Ames</a:t>
            </a:r>
            <a:endParaRPr lang="en-US" sz="1300" dirty="0"/>
          </a:p>
          <a:p>
            <a:pPr marL="0" indent="0" algn="ctr">
              <a:buNone/>
            </a:pPr>
            <a:r>
              <a:rPr lang="en-US" sz="1300" dirty="0">
                <a:solidFill>
                  <a:srgbClr val="5A6472"/>
                </a:solidFill>
                <a:latin typeface="Calibri" pitchFamily="34" charset="0"/>
                <a:ea typeface="Calibri" pitchFamily="34" charset="-122"/>
                <a:cs typeface="Calibri" pitchFamily="34" charset="-120"/>
              </a:rPr>
              <a:t>(Mỹ)</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img/image1.png"/>
          <p:cNvPicPr>
            <a:picLocks noChangeAspect="1"/>
          </p:cNvPicPr>
          <p:nvPr/>
        </p:nvPicPr>
        <p:blipFill>
          <a:blip r:embed="rId3"/>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lang="en-US" sz="2600" b="1" dirty="0">
                <a:solidFill>
                  <a:srgbClr val="1A2A5E"/>
                </a:solidFill>
                <a:latin typeface="Cambria" pitchFamily="34" charset="0"/>
                <a:ea typeface="Cambria" pitchFamily="34" charset="-122"/>
                <a:cs typeface="Cambria" pitchFamily="34" charset="-120"/>
              </a:rPr>
              <a:t>Mô hình định giá</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lang="en-US" sz="1300" i="1" dirty="0">
                <a:solidFill>
                  <a:srgbClr val="5A6472"/>
                </a:solidFill>
                <a:latin typeface="Calibri" pitchFamily="34" charset="0"/>
                <a:ea typeface="Calibri" pitchFamily="34" charset="-122"/>
                <a:cs typeface="Calibri" pitchFamily="34" charset="-120"/>
              </a:rPr>
              <a:t>Kết hợp ba mô hình boosting mạnh</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4</a:t>
            </a:r>
            <a:endParaRPr lang="en-US" sz="900" dirty="0"/>
          </a:p>
        </p:txBody>
      </p:sp>
      <p:sp>
        <p:nvSpPr>
          <p:cNvPr id="6" name="Text 3"/>
          <p:cNvSpPr/>
          <p:nvPr/>
        </p:nvSpPr>
        <p:spPr>
          <a:xfrm>
            <a:off x="548640" y="2011680"/>
            <a:ext cx="6035040" cy="4114800"/>
          </a:xfrm>
          <a:prstGeom prst="rect">
            <a:avLst/>
          </a:prstGeom>
          <a:noFill/>
          <a:ln/>
        </p:spPr>
        <p:txBody>
          <a:bodyPr wrap="square" rtlCol="0" anchor="t"/>
          <a:lstStyle/>
          <a:p>
            <a:pPr marL="177800" indent="-177800">
              <a:lnSpc>
                <a:spcPct val="105000"/>
              </a:lnSpc>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Dùng ba mô hình cây boosting: LightGBM, XGBoost, CatBoost.</a:t>
            </a:r>
            <a:endParaRPr lang="en-US" sz="1400" dirty="0"/>
          </a:p>
          <a:p>
            <a:pPr marL="177800" indent="-177800">
              <a:lnSpc>
                <a:spcPct val="105000"/>
              </a:lnSpc>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Kết hợp lại (blend) theo trọng số tối ưu để dự đoán tốt hơn.</a:t>
            </a:r>
            <a:endParaRPr lang="en-US" sz="1400" dirty="0"/>
          </a:p>
          <a:p>
            <a:pPr marL="177800" indent="-177800">
              <a:lnSpc>
                <a:spcPct val="105000"/>
              </a:lnSpc>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King County đạt R² = 0.826 (giải thích ~83% biến động giá).</a:t>
            </a:r>
            <a:endParaRPr lang="en-US" sz="1400" dirty="0"/>
          </a:p>
          <a:p>
            <a:pPr marL="177800" indent="-177800">
              <a:lnSpc>
                <a:spcPct val="105000"/>
              </a:lnSpc>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Mô hình chỉ là nền; trọng tâm là KIỂM TRA phần giải thích.</a:t>
            </a:r>
            <a:endParaRPr lang="en-US" sz="1400" dirty="0"/>
          </a:p>
        </p:txBody>
      </p:sp>
      <p:sp>
        <p:nvSpPr>
          <p:cNvPr id="7" name="Shape 4"/>
          <p:cNvSpPr/>
          <p:nvPr/>
        </p:nvSpPr>
        <p:spPr>
          <a:xfrm>
            <a:off x="6858000" y="2011680"/>
            <a:ext cx="4754880" cy="4023360"/>
          </a:xfrm>
          <a:prstGeom prst="roundRect">
            <a:avLst>
              <a:gd name="adj" fmla="val 1818"/>
            </a:avLst>
          </a:prstGeom>
          <a:solidFill>
            <a:srgbClr val="EEF2FB"/>
          </a:solidFill>
          <a:ln w="12700">
            <a:solidFill>
              <a:srgbClr val="2E4A9E"/>
            </a:solidFill>
            <a:prstDash val="solid"/>
          </a:ln>
        </p:spPr>
        <p:txBody>
          <a:bodyPr/>
          <a:lstStyle/>
          <a:p>
            <a:endParaRPr/>
          </a:p>
        </p:txBody>
      </p:sp>
      <p:sp>
        <p:nvSpPr>
          <p:cNvPr id="8" name="Text 5"/>
          <p:cNvSpPr/>
          <p:nvPr/>
        </p:nvSpPr>
        <p:spPr>
          <a:xfrm>
            <a:off x="7086600" y="2194560"/>
            <a:ext cx="4297680" cy="457200"/>
          </a:xfrm>
          <a:prstGeom prst="rect">
            <a:avLst/>
          </a:prstGeom>
          <a:noFill/>
          <a:ln/>
        </p:spPr>
        <p:txBody>
          <a:bodyPr wrap="square" rtlCol="0" anchor="ctr"/>
          <a:lstStyle/>
          <a:p>
            <a:pPr marL="0" indent="0">
              <a:buNone/>
            </a:pPr>
            <a:r>
              <a:rPr lang="en-US" sz="1500" b="1" dirty="0">
                <a:solidFill>
                  <a:srgbClr val="1A2A5E"/>
                </a:solidFill>
                <a:latin typeface="Calibri" pitchFamily="34" charset="0"/>
                <a:ea typeface="Calibri" pitchFamily="34" charset="-122"/>
                <a:cs typeface="Calibri" pitchFamily="34" charset="-120"/>
              </a:rPr>
              <a:t>Độ chính xác</a:t>
            </a:r>
            <a:endParaRPr lang="en-US" sz="1500" dirty="0"/>
          </a:p>
        </p:txBody>
      </p:sp>
      <p:sp>
        <p:nvSpPr>
          <p:cNvPr id="9" name="Text 6"/>
          <p:cNvSpPr/>
          <p:nvPr/>
        </p:nvSpPr>
        <p:spPr>
          <a:xfrm>
            <a:off x="7086600" y="2788920"/>
            <a:ext cx="4297680" cy="3108960"/>
          </a:xfrm>
          <a:prstGeom prst="rect">
            <a:avLst/>
          </a:prstGeom>
          <a:noFill/>
          <a:ln/>
        </p:spPr>
        <p:txBody>
          <a:bodyPr wrap="square" rtlCol="0" anchor="t"/>
          <a:lstStyle/>
          <a:p>
            <a:pPr marL="0" indent="0">
              <a:spcAft>
                <a:spcPts val="800"/>
              </a:spcAft>
              <a:buNone/>
            </a:pPr>
            <a:r>
              <a:rPr lang="en-US" sz="1250" dirty="0">
                <a:solidFill>
                  <a:srgbClr val="1B1F2A"/>
                </a:solidFill>
                <a:latin typeface="Calibri" pitchFamily="34" charset="0"/>
                <a:ea typeface="Calibri" pitchFamily="34" charset="-122"/>
                <a:cs typeface="Calibri" pitchFamily="34" charset="-120"/>
              </a:rPr>
              <a:t>King County: R² = 0.826</a:t>
            </a:r>
            <a:endParaRPr lang="en-US" sz="1250" dirty="0"/>
          </a:p>
          <a:p>
            <a:pPr marL="0" indent="0">
              <a:spcAft>
                <a:spcPts val="800"/>
              </a:spcAft>
              <a:buNone/>
            </a:pPr>
            <a:r>
              <a:rPr lang="en-US" sz="1250" dirty="0">
                <a:solidFill>
                  <a:srgbClr val="1B1F2A"/>
                </a:solidFill>
                <a:latin typeface="Calibri" pitchFamily="34" charset="0"/>
                <a:ea typeface="Calibri" pitchFamily="34" charset="-122"/>
                <a:cs typeface="Calibri" pitchFamily="34" charset="-120"/>
              </a:rPr>
              <a:t>California: R² = 0.723</a:t>
            </a:r>
            <a:endParaRPr lang="en-US" sz="1250" dirty="0"/>
          </a:p>
          <a:p>
            <a:pPr marL="0" indent="0">
              <a:spcAft>
                <a:spcPts val="800"/>
              </a:spcAft>
              <a:buNone/>
            </a:pPr>
            <a:r>
              <a:rPr lang="en-US" sz="1250" dirty="0">
                <a:solidFill>
                  <a:srgbClr val="1B1F2A"/>
                </a:solidFill>
                <a:latin typeface="Calibri" pitchFamily="34" charset="0"/>
                <a:ea typeface="Calibri" pitchFamily="34" charset="-122"/>
                <a:cs typeface="Calibri" pitchFamily="34" charset="-120"/>
              </a:rPr>
              <a:t>Ames: R² = 0.895</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img/image1.png"/>
          <p:cNvPicPr>
            <a:picLocks noChangeAspect="1"/>
          </p:cNvPicPr>
          <p:nvPr/>
        </p:nvPicPr>
        <p:blipFill>
          <a:blip r:embed="rId3"/>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lang="en-US" sz="2600" b="1" dirty="0">
                <a:solidFill>
                  <a:srgbClr val="1A2A5E"/>
                </a:solidFill>
                <a:latin typeface="Cambria" pitchFamily="34" charset="0"/>
                <a:ea typeface="Cambria" pitchFamily="34" charset="-122"/>
                <a:cs typeface="Cambria" pitchFamily="34" charset="-120"/>
              </a:rPr>
              <a:t>Vấn đề: cách kiểm tra cũng có thể sai</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lang="en-US" sz="1300" i="1" dirty="0">
                <a:solidFill>
                  <a:srgbClr val="5A6472"/>
                </a:solidFill>
                <a:latin typeface="Calibri" pitchFamily="34" charset="0"/>
                <a:ea typeface="Calibri" pitchFamily="34" charset="-122"/>
                <a:cs typeface="Calibri" pitchFamily="34" charset="-120"/>
              </a:rPr>
              <a:t>Phát hiện cốt lõi của nhóm</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5</a:t>
            </a:r>
            <a:endParaRPr lang="en-US" sz="900" dirty="0"/>
          </a:p>
        </p:txBody>
      </p:sp>
      <p:sp>
        <p:nvSpPr>
          <p:cNvPr id="6" name="Text 3"/>
          <p:cNvSpPr/>
          <p:nvPr/>
        </p:nvSpPr>
        <p:spPr>
          <a:xfrm>
            <a:off x="548640" y="2011680"/>
            <a:ext cx="6035040" cy="4114800"/>
          </a:xfrm>
          <a:prstGeom prst="rect">
            <a:avLst/>
          </a:prstGeom>
          <a:noFill/>
          <a:ln/>
        </p:spPr>
        <p:txBody>
          <a:bodyPr wrap="square" rtlCol="0" anchor="t"/>
          <a:lstStyle/>
          <a:p>
            <a:pPr marL="177800" indent="-177800">
              <a:lnSpc>
                <a:spcPct val="105000"/>
              </a:lnSpc>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Để kiểm tra giải thích, người ta 'xóa' đặc trưng rồi xem dự đoán đổi bao nhiêu.</a:t>
            </a:r>
            <a:endParaRPr lang="en-US" sz="1400" dirty="0"/>
          </a:p>
          <a:p>
            <a:pPr marL="177800" indent="-177800">
              <a:lnSpc>
                <a:spcPct val="105000"/>
              </a:lnSpc>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Cách 'xóa' phổ biến: thay bằng giá trị TRUNG BÌNH.</a:t>
            </a:r>
            <a:endParaRPr lang="en-US" sz="1400" dirty="0"/>
          </a:p>
          <a:p>
            <a:pPr marL="177800" indent="-177800">
              <a:lnSpc>
                <a:spcPct val="105000"/>
              </a:lnSpc>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Nhưng căn nhà 'trung bình mọi thứ' là căn KHÔNG CÓ THẬT.</a:t>
            </a:r>
            <a:endParaRPr lang="en-US" sz="1400" dirty="0"/>
          </a:p>
          <a:p>
            <a:pPr marL="177800" indent="-177800">
              <a:lnSpc>
                <a:spcPct val="105000"/>
              </a:lnSpc>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 Bài kiểm tra có thể đo nhầm hành vi của mô hình ở vùng dữ liệu lạ.</a:t>
            </a:r>
            <a:endParaRPr lang="en-US" sz="1400" dirty="0"/>
          </a:p>
        </p:txBody>
      </p:sp>
      <p:sp>
        <p:nvSpPr>
          <p:cNvPr id="7" name="Shape 4"/>
          <p:cNvSpPr/>
          <p:nvPr/>
        </p:nvSpPr>
        <p:spPr>
          <a:xfrm>
            <a:off x="6858000" y="2011680"/>
            <a:ext cx="4754880" cy="4023360"/>
          </a:xfrm>
          <a:prstGeom prst="roundRect">
            <a:avLst>
              <a:gd name="adj" fmla="val 1818"/>
            </a:avLst>
          </a:prstGeom>
          <a:solidFill>
            <a:srgbClr val="FBE6E6"/>
          </a:solidFill>
          <a:ln w="12700">
            <a:solidFill>
              <a:srgbClr val="2E4A9E"/>
            </a:solidFill>
            <a:prstDash val="solid"/>
          </a:ln>
        </p:spPr>
        <p:txBody>
          <a:bodyPr/>
          <a:lstStyle/>
          <a:p>
            <a:endParaRPr/>
          </a:p>
        </p:txBody>
      </p:sp>
      <p:sp>
        <p:nvSpPr>
          <p:cNvPr id="8" name="Text 5"/>
          <p:cNvSpPr/>
          <p:nvPr/>
        </p:nvSpPr>
        <p:spPr>
          <a:xfrm>
            <a:off x="7086600" y="2194560"/>
            <a:ext cx="4297680" cy="457200"/>
          </a:xfrm>
          <a:prstGeom prst="rect">
            <a:avLst/>
          </a:prstGeom>
          <a:noFill/>
          <a:ln/>
        </p:spPr>
        <p:txBody>
          <a:bodyPr wrap="square" rtlCol="0" anchor="ctr"/>
          <a:lstStyle/>
          <a:p>
            <a:pPr marL="0" indent="0">
              <a:buNone/>
            </a:pPr>
            <a:r>
              <a:rPr lang="en-US" sz="1500" b="1" dirty="0">
                <a:solidFill>
                  <a:srgbClr val="1A2A5E"/>
                </a:solidFill>
                <a:latin typeface="Calibri" pitchFamily="34" charset="0"/>
                <a:ea typeface="Calibri" pitchFamily="34" charset="-122"/>
                <a:cs typeface="Calibri" pitchFamily="34" charset="-120"/>
              </a:rPr>
              <a:t>Cách của nhóm</a:t>
            </a:r>
            <a:endParaRPr lang="en-US" sz="1500" dirty="0"/>
          </a:p>
        </p:txBody>
      </p:sp>
      <p:sp>
        <p:nvSpPr>
          <p:cNvPr id="9" name="Text 6"/>
          <p:cNvSpPr/>
          <p:nvPr/>
        </p:nvSpPr>
        <p:spPr>
          <a:xfrm>
            <a:off x="7086600" y="2788920"/>
            <a:ext cx="4297680" cy="3108960"/>
          </a:xfrm>
          <a:prstGeom prst="rect">
            <a:avLst/>
          </a:prstGeom>
          <a:noFill/>
          <a:ln/>
        </p:spPr>
        <p:txBody>
          <a:bodyPr wrap="square" rtlCol="0" anchor="t"/>
          <a:lstStyle/>
          <a:p>
            <a:pPr marL="0" indent="0">
              <a:spcAft>
                <a:spcPts val="800"/>
              </a:spcAft>
              <a:buNone/>
            </a:pPr>
            <a:r>
              <a:rPr lang="en-US" sz="1250" dirty="0">
                <a:solidFill>
                  <a:srgbClr val="1B1F2A"/>
                </a:solidFill>
                <a:latin typeface="Calibri" pitchFamily="34" charset="0"/>
                <a:ea typeface="Calibri" pitchFamily="34" charset="-122"/>
                <a:cs typeface="Calibri" pitchFamily="34" charset="-120"/>
              </a:rPr>
              <a:t>Thay bằng giá trị của một căn nhà THẬT gần giống (on-manifold).</a:t>
            </a:r>
            <a:endParaRPr lang="en-US" sz="1250" dirty="0"/>
          </a:p>
          <a:p>
            <a:pPr marL="0" indent="0">
              <a:spcAft>
                <a:spcPts val="800"/>
              </a:spcAft>
              <a:buNone/>
            </a:pPr>
            <a:r>
              <a:rPr lang="en-US" sz="1250" dirty="0">
                <a:solidFill>
                  <a:srgbClr val="1B1F2A"/>
                </a:solidFill>
                <a:latin typeface="Calibri" pitchFamily="34" charset="0"/>
                <a:ea typeface="Calibri" pitchFamily="34" charset="-122"/>
                <a:cs typeface="Calibri" pitchFamily="34" charset="-120"/>
              </a:rPr>
              <a:t>So sánh hai cách: trung bình vs nhà-thật.</a:t>
            </a:r>
            <a:endParaRPr lang="en-US" sz="1250" dirty="0"/>
          </a:p>
          <a:p>
            <a:pPr marL="0" indent="0">
              <a:spcAft>
                <a:spcPts val="800"/>
              </a:spcAft>
              <a:buNone/>
            </a:pPr>
            <a:r>
              <a:rPr lang="en-US" sz="1250" dirty="0">
                <a:solidFill>
                  <a:srgbClr val="1B1F2A"/>
                </a:solidFill>
                <a:latin typeface="Calibri" pitchFamily="34" charset="0"/>
                <a:ea typeface="Calibri" pitchFamily="34" charset="-122"/>
                <a:cs typeface="Calibri" pitchFamily="34" charset="-120"/>
              </a:rPr>
              <a:t>Xem kết luận có đổi không.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img/image1.png"/>
          <p:cNvPicPr>
            <a:picLocks noChangeAspect="1"/>
          </p:cNvPicPr>
          <p:nvPr/>
        </p:nvPicPr>
        <p:blipFill>
          <a:blip r:embed="rId3"/>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lang="en-US" sz="2600" b="1" dirty="0">
                <a:solidFill>
                  <a:srgbClr val="1A2A5E"/>
                </a:solidFill>
                <a:latin typeface="Cambria" pitchFamily="34" charset="0"/>
                <a:ea typeface="Cambria" pitchFamily="34" charset="-122"/>
                <a:cs typeface="Cambria" pitchFamily="34" charset="-120"/>
              </a:rPr>
              <a:t>Bằng chứng: cách 'trung bình' đi ra vùng lạ</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lang="en-US" sz="1300" i="1" dirty="0">
                <a:solidFill>
                  <a:srgbClr val="5A6472"/>
                </a:solidFill>
                <a:latin typeface="Calibri" pitchFamily="34" charset="0"/>
                <a:ea typeface="Calibri" pitchFamily="34" charset="-122"/>
                <a:cs typeface="Calibri" pitchFamily="34" charset="-120"/>
              </a:rPr>
              <a:t>Đo khoảng cách tới căn nhà thật gần nhất</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6</a:t>
            </a:r>
            <a:endParaRPr lang="en-US" sz="900" dirty="0"/>
          </a:p>
        </p:txBody>
      </p:sp>
      <p:pic>
        <p:nvPicPr>
          <p:cNvPr id="6" name="Image 1" descr="img/fig_manifold.png"/>
          <p:cNvPicPr>
            <a:picLocks noChangeAspect="1"/>
          </p:cNvPicPr>
          <p:nvPr/>
        </p:nvPicPr>
        <p:blipFill>
          <a:blip r:embed="rId4"/>
          <a:stretch>
            <a:fillRect/>
          </a:stretch>
        </p:blipFill>
        <p:spPr>
          <a:xfrm>
            <a:off x="2162556" y="1920240"/>
            <a:ext cx="7863840" cy="3931920"/>
          </a:xfrm>
          <a:prstGeom prst="rect">
            <a:avLst/>
          </a:prstGeom>
        </p:spPr>
      </p:pic>
      <p:sp>
        <p:nvSpPr>
          <p:cNvPr id="7" name="Text 3"/>
          <p:cNvSpPr/>
          <p:nvPr/>
        </p:nvSpPr>
        <p:spPr>
          <a:xfrm>
            <a:off x="548640" y="6080760"/>
            <a:ext cx="11091672" cy="457200"/>
          </a:xfrm>
          <a:prstGeom prst="rect">
            <a:avLst/>
          </a:prstGeom>
          <a:noFill/>
          <a:ln/>
        </p:spPr>
        <p:txBody>
          <a:bodyPr wrap="square" rtlCol="0" anchor="ctr"/>
          <a:lstStyle/>
          <a:p>
            <a:pPr marL="0" indent="0" algn="ctr">
              <a:buNone/>
            </a:pPr>
            <a:r>
              <a:rPr lang="en-US" sz="1150" i="1" dirty="0">
                <a:solidFill>
                  <a:srgbClr val="5A6472"/>
                </a:solidFill>
                <a:latin typeface="Calibri" pitchFamily="34" charset="0"/>
                <a:ea typeface="Calibri" pitchFamily="34" charset="-122"/>
                <a:cs typeface="Calibri" pitchFamily="34" charset="-120"/>
              </a:rPr>
              <a:t>Cách on-manifold (xanh) bám sát dữ liệu thật (3.8); cách trung bình (đỏ) đi xa hơn (5.1) — đúng cho 100% trường hợp.</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img/image1.png"/>
          <p:cNvPicPr>
            <a:picLocks noChangeAspect="1"/>
          </p:cNvPicPr>
          <p:nvPr/>
        </p:nvPicPr>
        <p:blipFill>
          <a:blip r:embed="rId3"/>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lang="en-US" sz="2600" b="1" dirty="0">
                <a:solidFill>
                  <a:srgbClr val="1A2A5E"/>
                </a:solidFill>
                <a:latin typeface="Cambria" pitchFamily="34" charset="0"/>
                <a:ea typeface="Cambria" pitchFamily="34" charset="-122"/>
                <a:cs typeface="Cambria" pitchFamily="34" charset="-120"/>
              </a:rPr>
              <a:t>Năm phương pháp giải thích được kiểm tra</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lang="en-US" sz="1300" i="1" dirty="0">
                <a:solidFill>
                  <a:srgbClr val="5A6472"/>
                </a:solidFill>
                <a:latin typeface="Calibri" pitchFamily="34" charset="0"/>
                <a:ea typeface="Calibri" pitchFamily="34" charset="-122"/>
                <a:cs typeface="Calibri" pitchFamily="34" charset="-120"/>
              </a:rPr>
              <a:t>Bốn 'không phụ thuộc mô hình' + một gắn với cây</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7</a:t>
            </a:r>
            <a:endParaRPr lang="en-US" sz="900" dirty="0"/>
          </a:p>
        </p:txBody>
      </p:sp>
      <p:sp>
        <p:nvSpPr>
          <p:cNvPr id="6" name="Shape 3"/>
          <p:cNvSpPr/>
          <p:nvPr/>
        </p:nvSpPr>
        <p:spPr>
          <a:xfrm>
            <a:off x="548640" y="2011680"/>
            <a:ext cx="3108960" cy="914400"/>
          </a:xfrm>
          <a:prstGeom prst="roundRect">
            <a:avLst>
              <a:gd name="adj" fmla="val 6000"/>
            </a:avLst>
          </a:prstGeom>
          <a:solidFill>
            <a:srgbClr val="2E4A9E"/>
          </a:solidFill>
          <a:ln/>
        </p:spPr>
        <p:txBody>
          <a:bodyPr/>
          <a:lstStyle/>
          <a:p>
            <a:endParaRPr/>
          </a:p>
        </p:txBody>
      </p:sp>
      <p:sp>
        <p:nvSpPr>
          <p:cNvPr id="7" name="Text 4"/>
          <p:cNvSpPr/>
          <p:nvPr/>
        </p:nvSpPr>
        <p:spPr>
          <a:xfrm>
            <a:off x="685800" y="2011680"/>
            <a:ext cx="2834640" cy="914400"/>
          </a:xfrm>
          <a:prstGeom prst="rect">
            <a:avLst/>
          </a:prstGeom>
          <a:noFill/>
          <a:ln/>
        </p:spPr>
        <p:txBody>
          <a:bodyPr wrap="square" rtlCol="0" anchor="ctr"/>
          <a:lstStyle/>
          <a:p>
            <a:pPr marL="0" indent="0" algn="l">
              <a:buNone/>
            </a:pPr>
            <a:r>
              <a:rPr lang="en-US" sz="1300" dirty="0">
                <a:solidFill>
                  <a:srgbClr val="E87722"/>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KernelSHAP / Shapley sampling</a:t>
            </a:r>
            <a:endParaRPr lang="en-US" sz="1300" dirty="0"/>
          </a:p>
        </p:txBody>
      </p:sp>
      <p:sp>
        <p:nvSpPr>
          <p:cNvPr id="8" name="Shape 5"/>
          <p:cNvSpPr/>
          <p:nvPr/>
        </p:nvSpPr>
        <p:spPr>
          <a:xfrm>
            <a:off x="3840480" y="2011680"/>
            <a:ext cx="7772400" cy="914400"/>
          </a:xfrm>
          <a:prstGeom prst="roundRect">
            <a:avLst>
              <a:gd name="adj" fmla="val 6000"/>
            </a:avLst>
          </a:prstGeom>
          <a:solidFill>
            <a:srgbClr val="F5F7FC"/>
          </a:solidFill>
          <a:ln/>
        </p:spPr>
        <p:txBody>
          <a:bodyPr/>
          <a:lstStyle/>
          <a:p>
            <a:endParaRPr/>
          </a:p>
        </p:txBody>
      </p:sp>
      <p:sp>
        <p:nvSpPr>
          <p:cNvPr id="9" name="Text 6"/>
          <p:cNvSpPr/>
          <p:nvPr/>
        </p:nvSpPr>
        <p:spPr>
          <a:xfrm>
            <a:off x="4023360" y="2011680"/>
            <a:ext cx="7406640" cy="914400"/>
          </a:xfrm>
          <a:prstGeom prst="rect">
            <a:avLst/>
          </a:prstGeom>
          <a:noFill/>
          <a:ln/>
        </p:spPr>
        <p:txBody>
          <a:bodyPr wrap="square" rtlCol="0" anchor="ctr"/>
          <a:lstStyle/>
          <a:p>
            <a:pPr marL="0" indent="0" algn="l">
              <a:buNone/>
            </a:pPr>
            <a:r>
              <a:rPr lang="en-US" sz="1200" dirty="0">
                <a:solidFill>
                  <a:srgbClr val="1B1F2A"/>
                </a:solidFill>
                <a:latin typeface="Calibri" pitchFamily="34" charset="0"/>
                <a:ea typeface="Calibri" pitchFamily="34" charset="-122"/>
                <a:cs typeface="Calibri" pitchFamily="34" charset="-120"/>
              </a:rPr>
              <a:t>Ước lượng đóng góp công bằng của từng đặc trưng.</a:t>
            </a:r>
            <a:endParaRPr lang="en-US" sz="1200" dirty="0"/>
          </a:p>
        </p:txBody>
      </p:sp>
      <p:sp>
        <p:nvSpPr>
          <p:cNvPr id="10" name="Shape 7"/>
          <p:cNvSpPr/>
          <p:nvPr/>
        </p:nvSpPr>
        <p:spPr>
          <a:xfrm>
            <a:off x="548640" y="3108960"/>
            <a:ext cx="3108960" cy="914400"/>
          </a:xfrm>
          <a:prstGeom prst="roundRect">
            <a:avLst>
              <a:gd name="adj" fmla="val 6000"/>
            </a:avLst>
          </a:prstGeom>
          <a:solidFill>
            <a:srgbClr val="2E4A9E"/>
          </a:solidFill>
          <a:ln/>
        </p:spPr>
        <p:txBody>
          <a:bodyPr/>
          <a:lstStyle/>
          <a:p>
            <a:endParaRPr/>
          </a:p>
        </p:txBody>
      </p:sp>
      <p:sp>
        <p:nvSpPr>
          <p:cNvPr id="11" name="Text 8"/>
          <p:cNvSpPr/>
          <p:nvPr/>
        </p:nvSpPr>
        <p:spPr>
          <a:xfrm>
            <a:off x="685800" y="3108960"/>
            <a:ext cx="2834640" cy="914400"/>
          </a:xfrm>
          <a:prstGeom prst="rect">
            <a:avLst/>
          </a:prstGeom>
          <a:noFill/>
          <a:ln/>
        </p:spPr>
        <p:txBody>
          <a:bodyPr wrap="square" rtlCol="0" anchor="ctr"/>
          <a:lstStyle/>
          <a:p>
            <a:pPr marL="0" indent="0" algn="l">
              <a:buNone/>
            </a:pPr>
            <a:r>
              <a:rPr lang="en-US" sz="1300" dirty="0">
                <a:solidFill>
                  <a:srgbClr val="E87722"/>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LIME</a:t>
            </a:r>
            <a:endParaRPr lang="en-US" sz="1300" dirty="0"/>
          </a:p>
        </p:txBody>
      </p:sp>
      <p:sp>
        <p:nvSpPr>
          <p:cNvPr id="12" name="Shape 9"/>
          <p:cNvSpPr/>
          <p:nvPr/>
        </p:nvSpPr>
        <p:spPr>
          <a:xfrm>
            <a:off x="3840480" y="3108960"/>
            <a:ext cx="7772400" cy="914400"/>
          </a:xfrm>
          <a:prstGeom prst="roundRect">
            <a:avLst>
              <a:gd name="adj" fmla="val 6000"/>
            </a:avLst>
          </a:prstGeom>
          <a:solidFill>
            <a:srgbClr val="F5F7FC"/>
          </a:solidFill>
          <a:ln/>
        </p:spPr>
        <p:txBody>
          <a:bodyPr/>
          <a:lstStyle/>
          <a:p>
            <a:endParaRPr/>
          </a:p>
        </p:txBody>
      </p:sp>
      <p:sp>
        <p:nvSpPr>
          <p:cNvPr id="13" name="Text 10"/>
          <p:cNvSpPr/>
          <p:nvPr/>
        </p:nvSpPr>
        <p:spPr>
          <a:xfrm>
            <a:off x="4023360" y="3108960"/>
            <a:ext cx="7406640" cy="914400"/>
          </a:xfrm>
          <a:prstGeom prst="rect">
            <a:avLst/>
          </a:prstGeom>
          <a:noFill/>
          <a:ln/>
        </p:spPr>
        <p:txBody>
          <a:bodyPr wrap="square" rtlCol="0" anchor="ctr"/>
          <a:lstStyle/>
          <a:p>
            <a:pPr marL="0" indent="0" algn="l">
              <a:buNone/>
            </a:pPr>
            <a:r>
              <a:rPr lang="en-US" sz="1200" dirty="0">
                <a:solidFill>
                  <a:srgbClr val="1B1F2A"/>
                </a:solidFill>
                <a:latin typeface="Calibri" pitchFamily="34" charset="0"/>
                <a:ea typeface="Calibri" pitchFamily="34" charset="-122"/>
                <a:cs typeface="Calibri" pitchFamily="34" charset="-120"/>
              </a:rPr>
              <a:t>Xấp xỉ tuyến tính quanh một căn nhà cụ thể.</a:t>
            </a:r>
            <a:endParaRPr lang="en-US" sz="1200" dirty="0"/>
          </a:p>
        </p:txBody>
      </p:sp>
      <p:sp>
        <p:nvSpPr>
          <p:cNvPr id="14" name="Shape 11"/>
          <p:cNvSpPr/>
          <p:nvPr/>
        </p:nvSpPr>
        <p:spPr>
          <a:xfrm>
            <a:off x="548640" y="4206240"/>
            <a:ext cx="3108960" cy="914400"/>
          </a:xfrm>
          <a:prstGeom prst="roundRect">
            <a:avLst>
              <a:gd name="adj" fmla="val 6000"/>
            </a:avLst>
          </a:prstGeom>
          <a:solidFill>
            <a:srgbClr val="2E4A9E"/>
          </a:solidFill>
          <a:ln/>
        </p:spPr>
        <p:txBody>
          <a:bodyPr/>
          <a:lstStyle/>
          <a:p>
            <a:endParaRPr/>
          </a:p>
        </p:txBody>
      </p:sp>
      <p:sp>
        <p:nvSpPr>
          <p:cNvPr id="15" name="Text 12"/>
          <p:cNvSpPr/>
          <p:nvPr/>
        </p:nvSpPr>
        <p:spPr>
          <a:xfrm>
            <a:off x="685800" y="4206240"/>
            <a:ext cx="2834640" cy="914400"/>
          </a:xfrm>
          <a:prstGeom prst="rect">
            <a:avLst/>
          </a:prstGeom>
          <a:noFill/>
          <a:ln/>
        </p:spPr>
        <p:txBody>
          <a:bodyPr wrap="square" rtlCol="0" anchor="ctr"/>
          <a:lstStyle/>
          <a:p>
            <a:pPr marL="0" indent="0" algn="l">
              <a:buNone/>
            </a:pPr>
            <a:r>
              <a:rPr lang="en-US" sz="1300" dirty="0">
                <a:solidFill>
                  <a:srgbClr val="E87722"/>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Occlusion</a:t>
            </a:r>
            <a:endParaRPr lang="en-US" sz="1300" dirty="0"/>
          </a:p>
        </p:txBody>
      </p:sp>
      <p:sp>
        <p:nvSpPr>
          <p:cNvPr id="16" name="Shape 13"/>
          <p:cNvSpPr/>
          <p:nvPr/>
        </p:nvSpPr>
        <p:spPr>
          <a:xfrm>
            <a:off x="3840480" y="4206240"/>
            <a:ext cx="7772400" cy="914400"/>
          </a:xfrm>
          <a:prstGeom prst="roundRect">
            <a:avLst>
              <a:gd name="adj" fmla="val 6000"/>
            </a:avLst>
          </a:prstGeom>
          <a:solidFill>
            <a:srgbClr val="F5F7FC"/>
          </a:solidFill>
          <a:ln/>
        </p:spPr>
        <p:txBody>
          <a:bodyPr/>
          <a:lstStyle/>
          <a:p>
            <a:endParaRPr/>
          </a:p>
        </p:txBody>
      </p:sp>
      <p:sp>
        <p:nvSpPr>
          <p:cNvPr id="17" name="Text 14"/>
          <p:cNvSpPr/>
          <p:nvPr/>
        </p:nvSpPr>
        <p:spPr>
          <a:xfrm>
            <a:off x="4023360" y="4206240"/>
            <a:ext cx="7406640" cy="914400"/>
          </a:xfrm>
          <a:prstGeom prst="rect">
            <a:avLst/>
          </a:prstGeom>
          <a:noFill/>
          <a:ln/>
        </p:spPr>
        <p:txBody>
          <a:bodyPr wrap="square" rtlCol="0" anchor="ctr"/>
          <a:lstStyle/>
          <a:p>
            <a:pPr marL="0" indent="0" algn="l">
              <a:buNone/>
            </a:pPr>
            <a:r>
              <a:rPr lang="en-US" sz="1200" dirty="0">
                <a:solidFill>
                  <a:srgbClr val="1B1F2A"/>
                </a:solidFill>
                <a:latin typeface="Calibri" pitchFamily="34" charset="0"/>
                <a:ea typeface="Calibri" pitchFamily="34" charset="-122"/>
                <a:cs typeface="Calibri" pitchFamily="34" charset="-120"/>
              </a:rPr>
              <a:t>Đo tác động khi che từng đặc trưng.</a:t>
            </a:r>
            <a:endParaRPr lang="en-US" sz="1200" dirty="0"/>
          </a:p>
        </p:txBody>
      </p:sp>
      <p:sp>
        <p:nvSpPr>
          <p:cNvPr id="18" name="Shape 15"/>
          <p:cNvSpPr/>
          <p:nvPr/>
        </p:nvSpPr>
        <p:spPr>
          <a:xfrm>
            <a:off x="548640" y="5303520"/>
            <a:ext cx="3108960" cy="914400"/>
          </a:xfrm>
          <a:prstGeom prst="roundRect">
            <a:avLst>
              <a:gd name="adj" fmla="val 6000"/>
            </a:avLst>
          </a:prstGeom>
          <a:solidFill>
            <a:srgbClr val="2E4A9E"/>
          </a:solidFill>
          <a:ln/>
        </p:spPr>
        <p:txBody>
          <a:bodyPr/>
          <a:lstStyle/>
          <a:p>
            <a:endParaRPr/>
          </a:p>
        </p:txBody>
      </p:sp>
      <p:sp>
        <p:nvSpPr>
          <p:cNvPr id="19" name="Text 16"/>
          <p:cNvSpPr/>
          <p:nvPr/>
        </p:nvSpPr>
        <p:spPr>
          <a:xfrm>
            <a:off x="685800" y="5303520"/>
            <a:ext cx="2834640" cy="914400"/>
          </a:xfrm>
          <a:prstGeom prst="rect">
            <a:avLst/>
          </a:prstGeom>
          <a:noFill/>
          <a:ln/>
        </p:spPr>
        <p:txBody>
          <a:bodyPr wrap="square" rtlCol="0" anchor="ctr"/>
          <a:lstStyle/>
          <a:p>
            <a:pPr marL="0" indent="0" algn="l">
              <a:buNone/>
            </a:pPr>
            <a:r>
              <a:rPr lang="en-US" sz="1300" dirty="0">
                <a:solidFill>
                  <a:srgbClr val="E87722"/>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TreeSHAP (mặc định phổ biến)</a:t>
            </a:r>
            <a:endParaRPr lang="en-US" sz="1300" dirty="0"/>
          </a:p>
        </p:txBody>
      </p:sp>
      <p:sp>
        <p:nvSpPr>
          <p:cNvPr id="20" name="Shape 17"/>
          <p:cNvSpPr/>
          <p:nvPr/>
        </p:nvSpPr>
        <p:spPr>
          <a:xfrm>
            <a:off x="3840480" y="5303520"/>
            <a:ext cx="7772400" cy="914400"/>
          </a:xfrm>
          <a:prstGeom prst="roundRect">
            <a:avLst>
              <a:gd name="adj" fmla="val 6000"/>
            </a:avLst>
          </a:prstGeom>
          <a:solidFill>
            <a:srgbClr val="F5F7FC"/>
          </a:solidFill>
          <a:ln/>
        </p:spPr>
        <p:txBody>
          <a:bodyPr/>
          <a:lstStyle/>
          <a:p>
            <a:endParaRPr/>
          </a:p>
        </p:txBody>
      </p:sp>
      <p:sp>
        <p:nvSpPr>
          <p:cNvPr id="21" name="Text 18"/>
          <p:cNvSpPr/>
          <p:nvPr/>
        </p:nvSpPr>
        <p:spPr>
          <a:xfrm>
            <a:off x="4023360" y="5303520"/>
            <a:ext cx="7406640" cy="914400"/>
          </a:xfrm>
          <a:prstGeom prst="rect">
            <a:avLst/>
          </a:prstGeom>
          <a:noFill/>
          <a:ln/>
        </p:spPr>
        <p:txBody>
          <a:bodyPr wrap="square" rtlCol="0" anchor="ctr"/>
          <a:lstStyle/>
          <a:p>
            <a:pPr marL="0" indent="0" algn="l">
              <a:buNone/>
            </a:pPr>
            <a:r>
              <a:rPr lang="en-US" sz="1200" dirty="0">
                <a:solidFill>
                  <a:srgbClr val="1B1F2A"/>
                </a:solidFill>
                <a:latin typeface="Calibri" pitchFamily="34" charset="0"/>
                <a:ea typeface="Calibri" pitchFamily="34" charset="-122"/>
                <a:cs typeface="Calibri" pitchFamily="34" charset="-120"/>
              </a:rPr>
              <a:t>Nhanh, chính xác trên cây, nhưng gắn với cấu trúc mô hình.</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img/image1.png"/>
          <p:cNvPicPr>
            <a:picLocks noChangeAspect="1"/>
          </p:cNvPicPr>
          <p:nvPr/>
        </p:nvPicPr>
        <p:blipFill>
          <a:blip r:embed="rId3"/>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lang="en-US" sz="2600" b="1" dirty="0">
                <a:solidFill>
                  <a:srgbClr val="1A2A5E"/>
                </a:solidFill>
                <a:latin typeface="Cambria" pitchFamily="34" charset="0"/>
                <a:ea typeface="Cambria" pitchFamily="34" charset="-122"/>
                <a:cs typeface="Cambria" pitchFamily="34" charset="-120"/>
              </a:rPr>
              <a:t>Đo độ trung thực thế nào?</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lang="en-US" sz="1300" i="1" dirty="0">
                <a:solidFill>
                  <a:srgbClr val="5A6472"/>
                </a:solidFill>
                <a:latin typeface="Calibri" pitchFamily="34" charset="0"/>
                <a:ea typeface="Calibri" pitchFamily="34" charset="-122"/>
                <a:cs typeface="Calibri" pitchFamily="34" charset="-120"/>
              </a:rPr>
              <a:t>Vài cách đo, nhóm tập trung vào hai loại</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8</a:t>
            </a:r>
            <a:endParaRPr lang="en-US" sz="900" dirty="0"/>
          </a:p>
        </p:txBody>
      </p:sp>
      <p:sp>
        <p:nvSpPr>
          <p:cNvPr id="6" name="Shape 3"/>
          <p:cNvSpPr/>
          <p:nvPr/>
        </p:nvSpPr>
        <p:spPr>
          <a:xfrm>
            <a:off x="548640" y="2011680"/>
            <a:ext cx="3108960" cy="914400"/>
          </a:xfrm>
          <a:prstGeom prst="roundRect">
            <a:avLst>
              <a:gd name="adj" fmla="val 6000"/>
            </a:avLst>
          </a:prstGeom>
          <a:solidFill>
            <a:srgbClr val="1A2A5E"/>
          </a:solidFill>
          <a:ln/>
        </p:spPr>
        <p:txBody>
          <a:bodyPr/>
          <a:lstStyle/>
          <a:p>
            <a:endParaRPr/>
          </a:p>
        </p:txBody>
      </p:sp>
      <p:sp>
        <p:nvSpPr>
          <p:cNvPr id="7" name="Text 4"/>
          <p:cNvSpPr/>
          <p:nvPr/>
        </p:nvSpPr>
        <p:spPr>
          <a:xfrm>
            <a:off x="685800" y="2011680"/>
            <a:ext cx="2834640" cy="914400"/>
          </a:xfrm>
          <a:prstGeom prst="rect">
            <a:avLst/>
          </a:prstGeom>
          <a:noFill/>
          <a:ln/>
        </p:spPr>
        <p:txBody>
          <a:bodyPr wrap="square" rtlCol="0" anchor="ctr"/>
          <a:lstStyle/>
          <a:p>
            <a:pPr marL="0" indent="0" algn="l">
              <a:buNone/>
            </a:pPr>
            <a:r>
              <a:rPr lang="en-US" sz="1300" dirty="0">
                <a:solidFill>
                  <a:srgbClr val="E87722"/>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Deletion / Insertion (theo thứ hạng)</a:t>
            </a:r>
            <a:endParaRPr lang="en-US" sz="1300" dirty="0"/>
          </a:p>
        </p:txBody>
      </p:sp>
      <p:sp>
        <p:nvSpPr>
          <p:cNvPr id="8" name="Shape 5"/>
          <p:cNvSpPr/>
          <p:nvPr/>
        </p:nvSpPr>
        <p:spPr>
          <a:xfrm>
            <a:off x="3840480" y="2011680"/>
            <a:ext cx="7772400" cy="914400"/>
          </a:xfrm>
          <a:prstGeom prst="roundRect">
            <a:avLst>
              <a:gd name="adj" fmla="val 6000"/>
            </a:avLst>
          </a:prstGeom>
          <a:solidFill>
            <a:srgbClr val="F5F7FC"/>
          </a:solidFill>
          <a:ln/>
        </p:spPr>
        <p:txBody>
          <a:bodyPr/>
          <a:lstStyle/>
          <a:p>
            <a:endParaRPr/>
          </a:p>
        </p:txBody>
      </p:sp>
      <p:sp>
        <p:nvSpPr>
          <p:cNvPr id="9" name="Text 6"/>
          <p:cNvSpPr/>
          <p:nvPr/>
        </p:nvSpPr>
        <p:spPr>
          <a:xfrm>
            <a:off x="4023360" y="2011680"/>
            <a:ext cx="7406640" cy="914400"/>
          </a:xfrm>
          <a:prstGeom prst="rect">
            <a:avLst/>
          </a:prstGeom>
          <a:noFill/>
          <a:ln/>
        </p:spPr>
        <p:txBody>
          <a:bodyPr wrap="square" rtlCol="0" anchor="ctr"/>
          <a:lstStyle/>
          <a:p>
            <a:pPr marL="0" indent="0" algn="l">
              <a:buNone/>
            </a:pPr>
            <a:r>
              <a:rPr lang="en-US" sz="1200" dirty="0">
                <a:solidFill>
                  <a:srgbClr val="1B1F2A"/>
                </a:solidFill>
                <a:latin typeface="Calibri" pitchFamily="34" charset="0"/>
                <a:ea typeface="Calibri" pitchFamily="34" charset="-122"/>
                <a:cs typeface="Calibri" pitchFamily="34" charset="-120"/>
              </a:rPr>
              <a:t>Xóa/thêm dần đặc trưng quan trọng, xem dự đoán đổi.</a:t>
            </a:r>
            <a:endParaRPr lang="en-US" sz="1200" dirty="0"/>
          </a:p>
        </p:txBody>
      </p:sp>
      <p:sp>
        <p:nvSpPr>
          <p:cNvPr id="10" name="Shape 7"/>
          <p:cNvSpPr/>
          <p:nvPr/>
        </p:nvSpPr>
        <p:spPr>
          <a:xfrm>
            <a:off x="548640" y="3474720"/>
            <a:ext cx="3108960" cy="914400"/>
          </a:xfrm>
          <a:prstGeom prst="roundRect">
            <a:avLst>
              <a:gd name="adj" fmla="val 6000"/>
            </a:avLst>
          </a:prstGeom>
          <a:solidFill>
            <a:srgbClr val="1A2A5E"/>
          </a:solidFill>
          <a:ln/>
        </p:spPr>
        <p:txBody>
          <a:bodyPr/>
          <a:lstStyle/>
          <a:p>
            <a:endParaRPr/>
          </a:p>
        </p:txBody>
      </p:sp>
      <p:sp>
        <p:nvSpPr>
          <p:cNvPr id="11" name="Text 8"/>
          <p:cNvSpPr/>
          <p:nvPr/>
        </p:nvSpPr>
        <p:spPr>
          <a:xfrm>
            <a:off x="685800" y="3474720"/>
            <a:ext cx="2834640" cy="914400"/>
          </a:xfrm>
          <a:prstGeom prst="rect">
            <a:avLst/>
          </a:prstGeom>
          <a:noFill/>
          <a:ln/>
        </p:spPr>
        <p:txBody>
          <a:bodyPr wrap="square" rtlCol="0" anchor="ctr"/>
          <a:lstStyle/>
          <a:p>
            <a:pPr marL="0" indent="0" algn="l">
              <a:buNone/>
            </a:pPr>
            <a:r>
              <a:rPr lang="en-US" sz="1300" dirty="0">
                <a:solidFill>
                  <a:srgbClr val="E87722"/>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Infidelity (theo độ cộng tính)</a:t>
            </a:r>
            <a:endParaRPr lang="en-US" sz="1300" dirty="0"/>
          </a:p>
        </p:txBody>
      </p:sp>
      <p:sp>
        <p:nvSpPr>
          <p:cNvPr id="12" name="Shape 9"/>
          <p:cNvSpPr/>
          <p:nvPr/>
        </p:nvSpPr>
        <p:spPr>
          <a:xfrm>
            <a:off x="3840480" y="3474720"/>
            <a:ext cx="7772400" cy="914400"/>
          </a:xfrm>
          <a:prstGeom prst="roundRect">
            <a:avLst>
              <a:gd name="adj" fmla="val 6000"/>
            </a:avLst>
          </a:prstGeom>
          <a:solidFill>
            <a:srgbClr val="F5F7FC"/>
          </a:solidFill>
          <a:ln/>
        </p:spPr>
        <p:txBody>
          <a:bodyPr/>
          <a:lstStyle/>
          <a:p>
            <a:endParaRPr/>
          </a:p>
        </p:txBody>
      </p:sp>
      <p:sp>
        <p:nvSpPr>
          <p:cNvPr id="13" name="Text 10"/>
          <p:cNvSpPr/>
          <p:nvPr/>
        </p:nvSpPr>
        <p:spPr>
          <a:xfrm>
            <a:off x="4023360" y="3474720"/>
            <a:ext cx="7406640" cy="914400"/>
          </a:xfrm>
          <a:prstGeom prst="rect">
            <a:avLst/>
          </a:prstGeom>
          <a:noFill/>
          <a:ln/>
        </p:spPr>
        <p:txBody>
          <a:bodyPr wrap="square" rtlCol="0" anchor="ctr"/>
          <a:lstStyle/>
          <a:p>
            <a:pPr marL="0" indent="0" algn="l">
              <a:buNone/>
            </a:pPr>
            <a:r>
              <a:rPr lang="en-US" sz="1200" dirty="0">
                <a:solidFill>
                  <a:srgbClr val="1B1F2A"/>
                </a:solidFill>
                <a:latin typeface="Calibri" pitchFamily="34" charset="0"/>
                <a:ea typeface="Calibri" pitchFamily="34" charset="-122"/>
                <a:cs typeface="Calibri" pitchFamily="34" charset="-120"/>
              </a:rPr>
              <a:t>Sai số giữa giải thích và thay đổi thực của mô hình.</a:t>
            </a:r>
            <a:endParaRPr lang="en-US" sz="1200" dirty="0"/>
          </a:p>
        </p:txBody>
      </p:sp>
      <p:sp>
        <p:nvSpPr>
          <p:cNvPr id="14" name="Shape 11"/>
          <p:cNvSpPr/>
          <p:nvPr/>
        </p:nvSpPr>
        <p:spPr>
          <a:xfrm>
            <a:off x="548640" y="4937760"/>
            <a:ext cx="3108960" cy="914400"/>
          </a:xfrm>
          <a:prstGeom prst="roundRect">
            <a:avLst>
              <a:gd name="adj" fmla="val 6000"/>
            </a:avLst>
          </a:prstGeom>
          <a:solidFill>
            <a:srgbClr val="1A2A5E"/>
          </a:solidFill>
          <a:ln/>
        </p:spPr>
        <p:txBody>
          <a:bodyPr/>
          <a:lstStyle/>
          <a:p>
            <a:endParaRPr/>
          </a:p>
        </p:txBody>
      </p:sp>
      <p:sp>
        <p:nvSpPr>
          <p:cNvPr id="15" name="Text 12"/>
          <p:cNvSpPr/>
          <p:nvPr/>
        </p:nvSpPr>
        <p:spPr>
          <a:xfrm>
            <a:off x="685800" y="4937760"/>
            <a:ext cx="2834640" cy="914400"/>
          </a:xfrm>
          <a:prstGeom prst="rect">
            <a:avLst/>
          </a:prstGeom>
          <a:noFill/>
          <a:ln/>
        </p:spPr>
        <p:txBody>
          <a:bodyPr wrap="square" rtlCol="0" anchor="ctr"/>
          <a:lstStyle/>
          <a:p>
            <a:pPr marL="0" indent="0" algn="l">
              <a:buNone/>
            </a:pPr>
            <a:r>
              <a:rPr lang="en-US" sz="1300" dirty="0">
                <a:solidFill>
                  <a:srgbClr val="E87722"/>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Ý chính</a:t>
            </a:r>
            <a:endParaRPr lang="en-US" sz="1300" dirty="0"/>
          </a:p>
        </p:txBody>
      </p:sp>
      <p:sp>
        <p:nvSpPr>
          <p:cNvPr id="16" name="Shape 13"/>
          <p:cNvSpPr/>
          <p:nvPr/>
        </p:nvSpPr>
        <p:spPr>
          <a:xfrm>
            <a:off x="3840480" y="4937760"/>
            <a:ext cx="7772400" cy="914400"/>
          </a:xfrm>
          <a:prstGeom prst="roundRect">
            <a:avLst>
              <a:gd name="adj" fmla="val 6000"/>
            </a:avLst>
          </a:prstGeom>
          <a:solidFill>
            <a:srgbClr val="F5F7FC"/>
          </a:solidFill>
          <a:ln/>
        </p:spPr>
        <p:txBody>
          <a:bodyPr/>
          <a:lstStyle/>
          <a:p>
            <a:endParaRPr/>
          </a:p>
        </p:txBody>
      </p:sp>
      <p:sp>
        <p:nvSpPr>
          <p:cNvPr id="17" name="Text 14"/>
          <p:cNvSpPr/>
          <p:nvPr/>
        </p:nvSpPr>
        <p:spPr>
          <a:xfrm>
            <a:off x="4023360" y="4937760"/>
            <a:ext cx="7406640" cy="914400"/>
          </a:xfrm>
          <a:prstGeom prst="rect">
            <a:avLst/>
          </a:prstGeom>
          <a:noFill/>
          <a:ln/>
        </p:spPr>
        <p:txBody>
          <a:bodyPr wrap="square" rtlCol="0" anchor="ctr"/>
          <a:lstStyle/>
          <a:p>
            <a:pPr marL="0" indent="0" algn="l">
              <a:buNone/>
            </a:pPr>
            <a:r>
              <a:rPr lang="en-US" sz="1200" dirty="0">
                <a:solidFill>
                  <a:srgbClr val="1B1F2A"/>
                </a:solidFill>
                <a:latin typeface="Calibri" pitchFamily="34" charset="0"/>
                <a:ea typeface="Calibri" pitchFamily="34" charset="-122"/>
                <a:cs typeface="Calibri" pitchFamily="34" charset="-120"/>
              </a:rPr>
              <a:t>Nhóm so hai loại này xem loại nào ỔN ĐỊNH khi đổi cách nhiễu.</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img/image1.png"/>
          <p:cNvPicPr>
            <a:picLocks noChangeAspect="1"/>
          </p:cNvPicPr>
          <p:nvPr/>
        </p:nvPicPr>
        <p:blipFill>
          <a:blip r:embed="rId3"/>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lang="en-US" sz="2600" b="1" dirty="0">
                <a:solidFill>
                  <a:srgbClr val="1A2A5E"/>
                </a:solidFill>
                <a:latin typeface="Cambria" pitchFamily="34" charset="0"/>
                <a:ea typeface="Cambria" pitchFamily="34" charset="-122"/>
                <a:cs typeface="Cambria" pitchFamily="34" charset="-120"/>
              </a:rPr>
              <a:t>Kết quả 1: cách 'thứ hạng' KHÔNG ổn định</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lang="en-US" sz="1300" i="1" dirty="0">
                <a:solidFill>
                  <a:srgbClr val="5A6472"/>
                </a:solidFill>
                <a:latin typeface="Calibri" pitchFamily="34" charset="0"/>
                <a:ea typeface="Calibri" pitchFamily="34" charset="-122"/>
                <a:cs typeface="Calibri" pitchFamily="34" charset="-120"/>
              </a:rPr>
              <a:t>Đổi cách nhiễu → thứ hạng đảo lộn</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9</a:t>
            </a:r>
            <a:endParaRPr lang="en-US" sz="900" dirty="0"/>
          </a:p>
        </p:txBody>
      </p:sp>
      <p:sp>
        <p:nvSpPr>
          <p:cNvPr id="6" name="Text 3"/>
          <p:cNvSpPr/>
          <p:nvPr/>
        </p:nvSpPr>
        <p:spPr>
          <a:xfrm>
            <a:off x="548640" y="2011680"/>
            <a:ext cx="6035040" cy="4114800"/>
          </a:xfrm>
          <a:prstGeom prst="rect">
            <a:avLst/>
          </a:prstGeom>
          <a:noFill/>
          <a:ln/>
        </p:spPr>
        <p:txBody>
          <a:bodyPr wrap="square" rtlCol="0" anchor="t"/>
          <a:lstStyle/>
          <a:p>
            <a:pPr marL="177800" indent="-177800">
              <a:lnSpc>
                <a:spcPct val="105000"/>
              </a:lnSpc>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Với deletion/insertion, thứ hạng các phương pháp đảo lộn khi đổi cách nhiễu.</a:t>
            </a:r>
            <a:endParaRPr lang="en-US" sz="1400" dirty="0"/>
          </a:p>
          <a:p>
            <a:pPr marL="177800" indent="-177800">
              <a:lnSpc>
                <a:spcPct val="105000"/>
              </a:lnSpc>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Tương quan giữa hai cách gần như bằng 0 ở cả ba thị trường.</a:t>
            </a:r>
            <a:endParaRPr lang="en-US" sz="1400" dirty="0"/>
          </a:p>
          <a:p>
            <a:pPr marL="177800" indent="-177800">
              <a:lnSpc>
                <a:spcPct val="105000"/>
              </a:lnSpc>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 Chọn phương pháp bằng deletion là không đáng tin.</a:t>
            </a:r>
            <a:endParaRPr lang="en-US" sz="1400" dirty="0"/>
          </a:p>
        </p:txBody>
      </p:sp>
      <p:sp>
        <p:nvSpPr>
          <p:cNvPr id="7" name="Shape 4"/>
          <p:cNvSpPr/>
          <p:nvPr/>
        </p:nvSpPr>
        <p:spPr>
          <a:xfrm>
            <a:off x="6858000" y="2011680"/>
            <a:ext cx="4754880" cy="4023360"/>
          </a:xfrm>
          <a:prstGeom prst="roundRect">
            <a:avLst>
              <a:gd name="adj" fmla="val 1818"/>
            </a:avLst>
          </a:prstGeom>
          <a:solidFill>
            <a:srgbClr val="FBE6E6"/>
          </a:solidFill>
          <a:ln w="12700">
            <a:solidFill>
              <a:srgbClr val="2E4A9E"/>
            </a:solidFill>
            <a:prstDash val="solid"/>
          </a:ln>
        </p:spPr>
        <p:txBody>
          <a:bodyPr/>
          <a:lstStyle/>
          <a:p>
            <a:endParaRPr/>
          </a:p>
        </p:txBody>
      </p:sp>
      <p:sp>
        <p:nvSpPr>
          <p:cNvPr id="8" name="Text 5"/>
          <p:cNvSpPr/>
          <p:nvPr/>
        </p:nvSpPr>
        <p:spPr>
          <a:xfrm>
            <a:off x="7086600" y="2194560"/>
            <a:ext cx="4297680" cy="457200"/>
          </a:xfrm>
          <a:prstGeom prst="rect">
            <a:avLst/>
          </a:prstGeom>
          <a:noFill/>
          <a:ln/>
        </p:spPr>
        <p:txBody>
          <a:bodyPr wrap="square" rtlCol="0" anchor="ctr"/>
          <a:lstStyle/>
          <a:p>
            <a:pPr marL="0" indent="0">
              <a:buNone/>
            </a:pPr>
            <a:r>
              <a:rPr lang="en-US" sz="1500" b="1" dirty="0">
                <a:solidFill>
                  <a:srgbClr val="1A2A5E"/>
                </a:solidFill>
                <a:latin typeface="Calibri" pitchFamily="34" charset="0"/>
                <a:ea typeface="Calibri" pitchFamily="34" charset="-122"/>
                <a:cs typeface="Calibri" pitchFamily="34" charset="-120"/>
              </a:rPr>
              <a:t>Ý nghĩa</a:t>
            </a:r>
            <a:endParaRPr lang="en-US" sz="1500" dirty="0"/>
          </a:p>
        </p:txBody>
      </p:sp>
      <p:sp>
        <p:nvSpPr>
          <p:cNvPr id="9" name="Text 6"/>
          <p:cNvSpPr/>
          <p:nvPr/>
        </p:nvSpPr>
        <p:spPr>
          <a:xfrm>
            <a:off x="7086600" y="2788920"/>
            <a:ext cx="4297680" cy="3108960"/>
          </a:xfrm>
          <a:prstGeom prst="rect">
            <a:avLst/>
          </a:prstGeom>
          <a:noFill/>
          <a:ln/>
        </p:spPr>
        <p:txBody>
          <a:bodyPr wrap="square" rtlCol="0" anchor="t"/>
          <a:lstStyle/>
          <a:p>
            <a:pPr marL="0" indent="0">
              <a:spcAft>
                <a:spcPts val="800"/>
              </a:spcAft>
              <a:buNone/>
            </a:pPr>
            <a:r>
              <a:rPr lang="en-US" sz="1250" dirty="0">
                <a:solidFill>
                  <a:srgbClr val="1B1F2A"/>
                </a:solidFill>
                <a:latin typeface="Calibri" pitchFamily="34" charset="0"/>
                <a:ea typeface="Calibri" pitchFamily="34" charset="-122"/>
                <a:cs typeface="Calibri" pitchFamily="34" charset="-120"/>
              </a:rPr>
              <a:t>Kết luận có thể chỉ do cách đo, không phải do chất lượng giải thích.</a:t>
            </a:r>
            <a:endParaRPr lang="en-US" sz="1250" dirty="0"/>
          </a:p>
          <a:p>
            <a:pPr marL="0" indent="0">
              <a:spcAft>
                <a:spcPts val="800"/>
              </a:spcAft>
              <a:buNone/>
            </a:pPr>
            <a:r>
              <a:rPr lang="en-US" sz="1250" dirty="0">
                <a:solidFill>
                  <a:srgbClr val="1B1F2A"/>
                </a:solidFill>
                <a:latin typeface="Calibri" pitchFamily="34" charset="0"/>
                <a:ea typeface="Calibri" pitchFamily="34" charset="-122"/>
                <a:cs typeface="Calibri" pitchFamily="34" charset="-120"/>
              </a:rPr>
              <a:t>Cần một tiêu chí ổn định hơn.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img/image1.png"/>
          <p:cNvPicPr>
            <a:picLocks noChangeAspect="1"/>
          </p:cNvPicPr>
          <p:nvPr/>
        </p:nvPicPr>
        <p:blipFill>
          <a:blip r:embed="rId3"/>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lang="en-US" sz="2600" b="1" dirty="0">
                <a:solidFill>
                  <a:srgbClr val="1A2A5E"/>
                </a:solidFill>
                <a:latin typeface="Cambria" pitchFamily="34" charset="0"/>
                <a:ea typeface="Cambria" pitchFamily="34" charset="-122"/>
                <a:cs typeface="Cambria" pitchFamily="34" charset="-120"/>
              </a:rPr>
              <a:t>Kết quả 2: infidelity ổn định VÀ hữu ích</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lang="en-US" sz="1300" i="1" dirty="0">
                <a:solidFill>
                  <a:srgbClr val="5A6472"/>
                </a:solidFill>
                <a:latin typeface="Calibri" pitchFamily="34" charset="0"/>
                <a:ea typeface="Calibri" pitchFamily="34" charset="-122"/>
                <a:cs typeface="Calibri" pitchFamily="34" charset="-120"/>
              </a:rPr>
              <a:t>Tiêu chí infidelity dự báo được 'hành động đúng'</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10</a:t>
            </a:r>
            <a:endParaRPr lang="en-US" sz="900" dirty="0"/>
          </a:p>
        </p:txBody>
      </p:sp>
      <p:pic>
        <p:nvPicPr>
          <p:cNvPr id="6" name="Image 1" descr="img/fig_action.png"/>
          <p:cNvPicPr>
            <a:picLocks noChangeAspect="1"/>
          </p:cNvPicPr>
          <p:nvPr/>
        </p:nvPicPr>
        <p:blipFill>
          <a:blip r:embed="rId4"/>
          <a:stretch>
            <a:fillRect/>
          </a:stretch>
        </p:blipFill>
        <p:spPr>
          <a:xfrm>
            <a:off x="3420770" y="1920240"/>
            <a:ext cx="5347411" cy="3931920"/>
          </a:xfrm>
          <a:prstGeom prst="rect">
            <a:avLst/>
          </a:prstGeom>
        </p:spPr>
      </p:pic>
      <p:sp>
        <p:nvSpPr>
          <p:cNvPr id="7" name="Text 3"/>
          <p:cNvSpPr/>
          <p:nvPr/>
        </p:nvSpPr>
        <p:spPr>
          <a:xfrm>
            <a:off x="548640" y="6080760"/>
            <a:ext cx="11091672" cy="457200"/>
          </a:xfrm>
          <a:prstGeom prst="rect">
            <a:avLst/>
          </a:prstGeom>
          <a:noFill/>
          <a:ln/>
        </p:spPr>
        <p:txBody>
          <a:bodyPr wrap="square" rtlCol="0" anchor="ctr"/>
          <a:lstStyle/>
          <a:p>
            <a:pPr marL="0" indent="0" algn="ctr">
              <a:buNone/>
            </a:pPr>
            <a:r>
              <a:rPr lang="en-US" sz="1150" i="1" dirty="0">
                <a:solidFill>
                  <a:srgbClr val="5A6472"/>
                </a:solidFill>
                <a:latin typeface="Calibri" pitchFamily="34" charset="0"/>
                <a:ea typeface="Calibri" pitchFamily="34" charset="-122"/>
                <a:cs typeface="Calibri" pitchFamily="34" charset="-120"/>
              </a:rPr>
              <a:t>Phương pháp infidelity chọn (KernelSHAP/Sampling) và consensus đổi giá đúng hướng 64–77%; mặc định TreeSHAP chỉ 47–53%. Infidelity là tiêu chí nên dùng.</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img/image1.png"/>
          <p:cNvPicPr>
            <a:picLocks noChangeAspect="1"/>
          </p:cNvPicPr>
          <p:nvPr/>
        </p:nvPicPr>
        <p:blipFill>
          <a:blip r:embed="rId3"/>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lang="en-US" sz="2600" b="1" dirty="0">
                <a:solidFill>
                  <a:srgbClr val="1A2A5E"/>
                </a:solidFill>
                <a:latin typeface="Cambria" pitchFamily="34" charset="0"/>
                <a:ea typeface="Cambria" pitchFamily="34" charset="-122"/>
                <a:cs typeface="Cambria" pitchFamily="34" charset="-120"/>
              </a:rPr>
              <a:t>Kết quả 3: nên dùng 'consensus' thay mặc định</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lang="en-US" sz="1300" i="1" dirty="0">
                <a:solidFill>
                  <a:srgbClr val="5A6472"/>
                </a:solidFill>
                <a:latin typeface="Calibri" pitchFamily="34" charset="0"/>
                <a:ea typeface="Calibri" pitchFamily="34" charset="-122"/>
                <a:cs typeface="Calibri" pitchFamily="34" charset="-120"/>
              </a:rPr>
              <a:t>Khuyến nghị tích cực, dễ áp dụng</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548640" y="2011680"/>
            <a:ext cx="6035040" cy="4114800"/>
          </a:xfrm>
          <a:prstGeom prst="rect">
            <a:avLst/>
          </a:prstGeom>
          <a:noFill/>
          <a:ln/>
        </p:spPr>
        <p:txBody>
          <a:bodyPr wrap="square" rtlCol="0" anchor="t"/>
          <a:lstStyle/>
          <a:p>
            <a:pPr marL="177800" indent="-177800">
              <a:lnSpc>
                <a:spcPct val="105000"/>
              </a:lnSpc>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TreeSHAP (mặc định phổ biến) kém trung thực nhất vì chỉ giải thích MỘT mô hình con, không phải tổ hợp.</a:t>
            </a:r>
            <a:endParaRPr lang="en-US" sz="1400" dirty="0"/>
          </a:p>
          <a:p>
            <a:pPr marL="177800" indent="-177800">
              <a:lnSpc>
                <a:spcPct val="105000"/>
              </a:lnSpc>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Nhóm đề xuất CONSENSUS: kết hợp các phương pháp theo độ trung thực (infidelity).</a:t>
            </a:r>
            <a:endParaRPr lang="en-US" sz="1400" dirty="0"/>
          </a:p>
          <a:p>
            <a:pPr marL="177800" indent="-177800">
              <a:lnSpc>
                <a:spcPct val="105000"/>
              </a:lnSpc>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Consensus vừa trung thực, vừa hành động được, vừa ổn định giữa hai cách nhiễu.</a:t>
            </a:r>
            <a:endParaRPr lang="en-US" sz="1400" dirty="0"/>
          </a:p>
        </p:txBody>
      </p:sp>
      <p:sp>
        <p:nvSpPr>
          <p:cNvPr id="7" name="Shape 4"/>
          <p:cNvSpPr/>
          <p:nvPr/>
        </p:nvSpPr>
        <p:spPr>
          <a:xfrm>
            <a:off x="6858000" y="2011680"/>
            <a:ext cx="4754880" cy="4023360"/>
          </a:xfrm>
          <a:prstGeom prst="roundRect">
            <a:avLst>
              <a:gd name="adj" fmla="val 1818"/>
            </a:avLst>
          </a:prstGeom>
          <a:solidFill>
            <a:srgbClr val="EEF2FB"/>
          </a:solidFill>
          <a:ln w="12700">
            <a:solidFill>
              <a:srgbClr val="2E4A9E"/>
            </a:solidFill>
            <a:prstDash val="solid"/>
          </a:ln>
        </p:spPr>
        <p:txBody>
          <a:bodyPr/>
          <a:lstStyle/>
          <a:p>
            <a:endParaRPr/>
          </a:p>
        </p:txBody>
      </p:sp>
      <p:sp>
        <p:nvSpPr>
          <p:cNvPr id="8" name="Text 5"/>
          <p:cNvSpPr/>
          <p:nvPr/>
        </p:nvSpPr>
        <p:spPr>
          <a:xfrm>
            <a:off x="7086600" y="2194560"/>
            <a:ext cx="4297680" cy="457200"/>
          </a:xfrm>
          <a:prstGeom prst="rect">
            <a:avLst/>
          </a:prstGeom>
          <a:noFill/>
          <a:ln/>
        </p:spPr>
        <p:txBody>
          <a:bodyPr wrap="square" rtlCol="0" anchor="ctr"/>
          <a:lstStyle/>
          <a:p>
            <a:pPr marL="0" indent="0">
              <a:buNone/>
            </a:pPr>
            <a:r>
              <a:rPr lang="en-US" sz="1500" b="1" dirty="0">
                <a:solidFill>
                  <a:srgbClr val="1A2A5E"/>
                </a:solidFill>
                <a:latin typeface="Calibri" pitchFamily="34" charset="0"/>
                <a:ea typeface="Calibri" pitchFamily="34" charset="-122"/>
                <a:cs typeface="Calibri" pitchFamily="34" charset="-120"/>
              </a:rPr>
              <a:t>Lời khuyên dùng được</a:t>
            </a:r>
            <a:endParaRPr lang="en-US" sz="1500" dirty="0"/>
          </a:p>
        </p:txBody>
      </p:sp>
      <p:sp>
        <p:nvSpPr>
          <p:cNvPr id="9" name="Text 6"/>
          <p:cNvSpPr/>
          <p:nvPr/>
        </p:nvSpPr>
        <p:spPr>
          <a:xfrm>
            <a:off x="7086600" y="2788920"/>
            <a:ext cx="4297680" cy="3108960"/>
          </a:xfrm>
          <a:prstGeom prst="rect">
            <a:avLst/>
          </a:prstGeom>
          <a:noFill/>
          <a:ln/>
        </p:spPr>
        <p:txBody>
          <a:bodyPr wrap="square" rtlCol="0" anchor="t"/>
          <a:lstStyle/>
          <a:p>
            <a:pPr marL="0" indent="0">
              <a:spcAft>
                <a:spcPts val="800"/>
              </a:spcAft>
              <a:buNone/>
            </a:pPr>
            <a:r>
              <a:rPr lang="en-US" sz="1250" dirty="0">
                <a:solidFill>
                  <a:srgbClr val="1B1F2A"/>
                </a:solidFill>
                <a:latin typeface="Calibri" pitchFamily="34" charset="0"/>
                <a:ea typeface="Calibri" pitchFamily="34" charset="-122"/>
                <a:cs typeface="Calibri" pitchFamily="34" charset="-120"/>
              </a:rPr>
              <a:t>Với mô hình tổ hợp, ưu tiên consensus thay mặc định tree-native.</a:t>
            </a:r>
            <a:endParaRPr lang="en-US" sz="1250" dirty="0"/>
          </a:p>
          <a:p>
            <a:pPr marL="0" indent="0">
              <a:spcAft>
                <a:spcPts val="800"/>
              </a:spcAft>
              <a:buNone/>
            </a:pPr>
            <a:r>
              <a:rPr lang="en-US" sz="1250" dirty="0">
                <a:solidFill>
                  <a:srgbClr val="1B1F2A"/>
                </a:solidFill>
                <a:latin typeface="Calibri" pitchFamily="34" charset="0"/>
                <a:ea typeface="Calibri" pitchFamily="34" charset="-122"/>
                <a:cs typeface="Calibri" pitchFamily="34" charset="-120"/>
              </a:rPr>
              <a:t>Đặt trọng số theo infidelity, đo on-manifold.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img/image1.png"/>
          <p:cNvPicPr>
            <a:picLocks noChangeAspect="1"/>
          </p:cNvPicPr>
          <p:nvPr/>
        </p:nvPicPr>
        <p:blipFill>
          <a:blip r:embed="rId3"/>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lang="en-US" sz="2600" b="1" dirty="0">
                <a:solidFill>
                  <a:srgbClr val="1A2A5E"/>
                </a:solidFill>
                <a:latin typeface="Cambria" pitchFamily="34" charset="0"/>
                <a:ea typeface="Cambria" pitchFamily="34" charset="-122"/>
                <a:cs typeface="Cambria" pitchFamily="34" charset="-120"/>
              </a:rPr>
              <a:t>Công cụ: dịch vụ định giá + giải thích</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lang="en-US" sz="1300" i="1" dirty="0">
                <a:solidFill>
                  <a:srgbClr val="5A6472"/>
                </a:solidFill>
                <a:latin typeface="Calibri" pitchFamily="34" charset="0"/>
                <a:ea typeface="Calibri" pitchFamily="34" charset="-122"/>
                <a:cs typeface="Calibri" pitchFamily="34" charset="-120"/>
              </a:rPr>
              <a:t>Chạy thật, không dừng ở lý thuyết</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12</a:t>
            </a:r>
            <a:endParaRPr lang="en-US" sz="900" dirty="0"/>
          </a:p>
        </p:txBody>
      </p:sp>
      <p:pic>
        <p:nvPicPr>
          <p:cNvPr id="6" name="Image 1" descr="img/fig_tool.png"/>
          <p:cNvPicPr>
            <a:picLocks noChangeAspect="1"/>
          </p:cNvPicPr>
          <p:nvPr/>
        </p:nvPicPr>
        <p:blipFill>
          <a:blip r:embed="rId4"/>
          <a:stretch>
            <a:fillRect/>
          </a:stretch>
        </p:blipFill>
        <p:spPr>
          <a:xfrm>
            <a:off x="2595067" y="1920240"/>
            <a:ext cx="6998818" cy="3931920"/>
          </a:xfrm>
          <a:prstGeom prst="rect">
            <a:avLst/>
          </a:prstGeom>
        </p:spPr>
      </p:pic>
      <p:sp>
        <p:nvSpPr>
          <p:cNvPr id="7" name="Text 3"/>
          <p:cNvSpPr/>
          <p:nvPr/>
        </p:nvSpPr>
        <p:spPr>
          <a:xfrm>
            <a:off x="548640" y="6080760"/>
            <a:ext cx="11091672" cy="457200"/>
          </a:xfrm>
          <a:prstGeom prst="rect">
            <a:avLst/>
          </a:prstGeom>
          <a:noFill/>
          <a:ln/>
        </p:spPr>
        <p:txBody>
          <a:bodyPr wrap="square" rtlCol="0" anchor="ctr"/>
          <a:lstStyle/>
          <a:p>
            <a:pPr marL="0" indent="0" algn="ctr">
              <a:buNone/>
            </a:pPr>
            <a:r>
              <a:rPr lang="en-US" sz="1150" i="1" dirty="0">
                <a:solidFill>
                  <a:srgbClr val="5A6472"/>
                </a:solidFill>
                <a:latin typeface="Calibri" pitchFamily="34" charset="0"/>
                <a:ea typeface="Calibri" pitchFamily="34" charset="-122"/>
                <a:cs typeface="Calibri" pitchFamily="34" charset="-120"/>
              </a:rPr>
              <a:t>Một màn hình: nhập thông tin nhà → giá ước lượng → bảng đóng góp consensus theo USD → lời giải thích. Có nhãn 'đã kiểm toán'.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img/image1.png"/>
          <p:cNvPicPr>
            <a:picLocks noChangeAspect="1"/>
          </p:cNvPicPr>
          <p:nvPr/>
        </p:nvPicPr>
        <p:blipFill>
          <a:blip r:embed="rId3"/>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lang="en-US" sz="2600" b="1" dirty="0">
                <a:solidFill>
                  <a:srgbClr val="1A2A5E"/>
                </a:solidFill>
                <a:latin typeface="Cambria" pitchFamily="34" charset="0"/>
                <a:ea typeface="Cambria" pitchFamily="34" charset="-122"/>
                <a:cs typeface="Cambria" pitchFamily="34" charset="-120"/>
              </a:rPr>
              <a:t>Tóm tắt: nhóm đã làm gì</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lang="en-US" sz="1300" i="1" dirty="0">
                <a:solidFill>
                  <a:srgbClr val="5A6472"/>
                </a:solidFill>
                <a:latin typeface="Calibri" pitchFamily="34" charset="0"/>
                <a:ea typeface="Calibri" pitchFamily="34" charset="-122"/>
                <a:cs typeface="Calibri" pitchFamily="34" charset="-120"/>
              </a:rPr>
              <a:t>Bốn việc cụ thể, mọi số từ code đã chạy</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13</a:t>
            </a:r>
            <a:endParaRPr lang="en-US" sz="900" dirty="0"/>
          </a:p>
        </p:txBody>
      </p:sp>
      <p:sp>
        <p:nvSpPr>
          <p:cNvPr id="6" name="Shape 3"/>
          <p:cNvSpPr/>
          <p:nvPr/>
        </p:nvSpPr>
        <p:spPr>
          <a:xfrm>
            <a:off x="548640" y="2011680"/>
            <a:ext cx="3108960" cy="914400"/>
          </a:xfrm>
          <a:prstGeom prst="roundRect">
            <a:avLst>
              <a:gd name="adj" fmla="val 6000"/>
            </a:avLst>
          </a:prstGeom>
          <a:solidFill>
            <a:srgbClr val="1A2A5E"/>
          </a:solidFill>
          <a:ln/>
        </p:spPr>
        <p:txBody>
          <a:bodyPr/>
          <a:lstStyle/>
          <a:p>
            <a:endParaRPr/>
          </a:p>
        </p:txBody>
      </p:sp>
      <p:sp>
        <p:nvSpPr>
          <p:cNvPr id="7" name="Text 4"/>
          <p:cNvSpPr/>
          <p:nvPr/>
        </p:nvSpPr>
        <p:spPr>
          <a:xfrm>
            <a:off x="685800" y="2011680"/>
            <a:ext cx="2834640" cy="914400"/>
          </a:xfrm>
          <a:prstGeom prst="rect">
            <a:avLst/>
          </a:prstGeom>
          <a:noFill/>
          <a:ln/>
        </p:spPr>
        <p:txBody>
          <a:bodyPr wrap="square" rtlCol="0" anchor="ctr"/>
          <a:lstStyle/>
          <a:p>
            <a:pPr marL="0" indent="0" algn="l">
              <a:buNone/>
            </a:pPr>
            <a:r>
              <a:rPr lang="en-US" sz="1300" dirty="0">
                <a:solidFill>
                  <a:srgbClr val="E87722"/>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 Kiểm tra 5 phương pháp × 2 cách nhiễu × 3 thị trường</a:t>
            </a:r>
            <a:endParaRPr lang="en-US" sz="1300" dirty="0"/>
          </a:p>
        </p:txBody>
      </p:sp>
      <p:sp>
        <p:nvSpPr>
          <p:cNvPr id="8" name="Shape 5"/>
          <p:cNvSpPr/>
          <p:nvPr/>
        </p:nvSpPr>
        <p:spPr>
          <a:xfrm>
            <a:off x="3840480" y="2011680"/>
            <a:ext cx="7772400" cy="914400"/>
          </a:xfrm>
          <a:prstGeom prst="roundRect">
            <a:avLst>
              <a:gd name="adj" fmla="val 6000"/>
            </a:avLst>
          </a:prstGeom>
          <a:solidFill>
            <a:srgbClr val="F5F7FC"/>
          </a:solidFill>
          <a:ln/>
        </p:spPr>
        <p:txBody>
          <a:bodyPr/>
          <a:lstStyle/>
          <a:p>
            <a:endParaRPr/>
          </a:p>
        </p:txBody>
      </p:sp>
      <p:sp>
        <p:nvSpPr>
          <p:cNvPr id="9" name="Text 6"/>
          <p:cNvSpPr/>
          <p:nvPr/>
        </p:nvSpPr>
        <p:spPr>
          <a:xfrm>
            <a:off x="4023360" y="2011680"/>
            <a:ext cx="7406640" cy="914400"/>
          </a:xfrm>
          <a:prstGeom prst="rect">
            <a:avLst/>
          </a:prstGeom>
          <a:noFill/>
          <a:ln/>
        </p:spPr>
        <p:txBody>
          <a:bodyPr wrap="square" rtlCol="0" anchor="ctr"/>
          <a:lstStyle/>
          <a:p>
            <a:pPr marL="0" indent="0" algn="l">
              <a:buNone/>
            </a:pPr>
            <a:r>
              <a:rPr lang="en-US" sz="1200" dirty="0">
                <a:solidFill>
                  <a:srgbClr val="1B1F2A"/>
                </a:solidFill>
                <a:latin typeface="Calibri" pitchFamily="34" charset="0"/>
                <a:ea typeface="Calibri" pitchFamily="34" charset="-122"/>
                <a:cs typeface="Calibri" pitchFamily="34" charset="-120"/>
              </a:rPr>
              <a:t>Có khoảng tin cậy bootstrap.</a:t>
            </a:r>
            <a:endParaRPr lang="en-US" sz="1200" dirty="0"/>
          </a:p>
        </p:txBody>
      </p:sp>
      <p:sp>
        <p:nvSpPr>
          <p:cNvPr id="10" name="Shape 7"/>
          <p:cNvSpPr/>
          <p:nvPr/>
        </p:nvSpPr>
        <p:spPr>
          <a:xfrm>
            <a:off x="548640" y="3108960"/>
            <a:ext cx="3108960" cy="914400"/>
          </a:xfrm>
          <a:prstGeom prst="roundRect">
            <a:avLst>
              <a:gd name="adj" fmla="val 6000"/>
            </a:avLst>
          </a:prstGeom>
          <a:solidFill>
            <a:srgbClr val="1A2A5E"/>
          </a:solidFill>
          <a:ln/>
        </p:spPr>
        <p:txBody>
          <a:bodyPr/>
          <a:lstStyle/>
          <a:p>
            <a:endParaRPr/>
          </a:p>
        </p:txBody>
      </p:sp>
      <p:sp>
        <p:nvSpPr>
          <p:cNvPr id="11" name="Text 8"/>
          <p:cNvSpPr/>
          <p:nvPr/>
        </p:nvSpPr>
        <p:spPr>
          <a:xfrm>
            <a:off x="685800" y="3108960"/>
            <a:ext cx="2834640" cy="914400"/>
          </a:xfrm>
          <a:prstGeom prst="rect">
            <a:avLst/>
          </a:prstGeom>
          <a:noFill/>
          <a:ln/>
        </p:spPr>
        <p:txBody>
          <a:bodyPr wrap="square" rtlCol="0" anchor="ctr"/>
          <a:lstStyle/>
          <a:p>
            <a:pPr marL="0" indent="0" algn="l">
              <a:buNone/>
            </a:pPr>
            <a:r>
              <a:rPr lang="en-US" sz="1300" dirty="0">
                <a:solidFill>
                  <a:srgbClr val="E87722"/>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 Tìm ra tiêu chí đáng tin</a:t>
            </a:r>
            <a:endParaRPr lang="en-US" sz="1300" dirty="0"/>
          </a:p>
        </p:txBody>
      </p:sp>
      <p:sp>
        <p:nvSpPr>
          <p:cNvPr id="12" name="Shape 9"/>
          <p:cNvSpPr/>
          <p:nvPr/>
        </p:nvSpPr>
        <p:spPr>
          <a:xfrm>
            <a:off x="3840480" y="3108960"/>
            <a:ext cx="7772400" cy="914400"/>
          </a:xfrm>
          <a:prstGeom prst="roundRect">
            <a:avLst>
              <a:gd name="adj" fmla="val 6000"/>
            </a:avLst>
          </a:prstGeom>
          <a:solidFill>
            <a:srgbClr val="F5F7FC"/>
          </a:solidFill>
          <a:ln/>
        </p:spPr>
        <p:txBody>
          <a:bodyPr/>
          <a:lstStyle/>
          <a:p>
            <a:endParaRPr/>
          </a:p>
        </p:txBody>
      </p:sp>
      <p:sp>
        <p:nvSpPr>
          <p:cNvPr id="13" name="Text 10"/>
          <p:cNvSpPr/>
          <p:nvPr/>
        </p:nvSpPr>
        <p:spPr>
          <a:xfrm>
            <a:off x="4023360" y="3108960"/>
            <a:ext cx="7406640" cy="914400"/>
          </a:xfrm>
          <a:prstGeom prst="rect">
            <a:avLst/>
          </a:prstGeom>
          <a:noFill/>
          <a:ln/>
        </p:spPr>
        <p:txBody>
          <a:bodyPr wrap="square" rtlCol="0" anchor="ctr"/>
          <a:lstStyle/>
          <a:p>
            <a:pPr marL="0" indent="0" algn="l">
              <a:buNone/>
            </a:pPr>
            <a:r>
              <a:rPr lang="en-US" sz="1200" dirty="0">
                <a:solidFill>
                  <a:srgbClr val="1B1F2A"/>
                </a:solidFill>
                <a:latin typeface="Calibri" pitchFamily="34" charset="0"/>
                <a:ea typeface="Calibri" pitchFamily="34" charset="-122"/>
                <a:cs typeface="Calibri" pitchFamily="34" charset="-120"/>
              </a:rPr>
              <a:t>Infidelity ổn định và dự báo actionability.</a:t>
            </a:r>
            <a:endParaRPr lang="en-US" sz="1200" dirty="0"/>
          </a:p>
        </p:txBody>
      </p:sp>
      <p:sp>
        <p:nvSpPr>
          <p:cNvPr id="14" name="Shape 11"/>
          <p:cNvSpPr/>
          <p:nvPr/>
        </p:nvSpPr>
        <p:spPr>
          <a:xfrm>
            <a:off x="548640" y="4206240"/>
            <a:ext cx="3108960" cy="914400"/>
          </a:xfrm>
          <a:prstGeom prst="roundRect">
            <a:avLst>
              <a:gd name="adj" fmla="val 6000"/>
            </a:avLst>
          </a:prstGeom>
          <a:solidFill>
            <a:srgbClr val="1A2A5E"/>
          </a:solidFill>
          <a:ln/>
        </p:spPr>
        <p:txBody>
          <a:bodyPr/>
          <a:lstStyle/>
          <a:p>
            <a:endParaRPr/>
          </a:p>
        </p:txBody>
      </p:sp>
      <p:sp>
        <p:nvSpPr>
          <p:cNvPr id="15" name="Text 12"/>
          <p:cNvSpPr/>
          <p:nvPr/>
        </p:nvSpPr>
        <p:spPr>
          <a:xfrm>
            <a:off x="685800" y="4206240"/>
            <a:ext cx="2834640" cy="914400"/>
          </a:xfrm>
          <a:prstGeom prst="rect">
            <a:avLst/>
          </a:prstGeom>
          <a:noFill/>
          <a:ln/>
        </p:spPr>
        <p:txBody>
          <a:bodyPr wrap="square" rtlCol="0" anchor="ctr"/>
          <a:lstStyle/>
          <a:p>
            <a:pPr marL="0" indent="0" algn="l">
              <a:buNone/>
            </a:pPr>
            <a:r>
              <a:rPr lang="en-US" sz="1300" dirty="0">
                <a:solidFill>
                  <a:srgbClr val="E87722"/>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 Đề xuất consensus + công cụ chạy thật</a:t>
            </a:r>
            <a:endParaRPr lang="en-US" sz="1300" dirty="0"/>
          </a:p>
        </p:txBody>
      </p:sp>
      <p:sp>
        <p:nvSpPr>
          <p:cNvPr id="16" name="Shape 13"/>
          <p:cNvSpPr/>
          <p:nvPr/>
        </p:nvSpPr>
        <p:spPr>
          <a:xfrm>
            <a:off x="3840480" y="4206240"/>
            <a:ext cx="7772400" cy="914400"/>
          </a:xfrm>
          <a:prstGeom prst="roundRect">
            <a:avLst>
              <a:gd name="adj" fmla="val 6000"/>
            </a:avLst>
          </a:prstGeom>
          <a:solidFill>
            <a:srgbClr val="F5F7FC"/>
          </a:solidFill>
          <a:ln/>
        </p:spPr>
        <p:txBody>
          <a:bodyPr/>
          <a:lstStyle/>
          <a:p>
            <a:endParaRPr/>
          </a:p>
        </p:txBody>
      </p:sp>
      <p:sp>
        <p:nvSpPr>
          <p:cNvPr id="17" name="Text 14"/>
          <p:cNvSpPr/>
          <p:nvPr/>
        </p:nvSpPr>
        <p:spPr>
          <a:xfrm>
            <a:off x="4023360" y="4206240"/>
            <a:ext cx="7406640" cy="914400"/>
          </a:xfrm>
          <a:prstGeom prst="rect">
            <a:avLst/>
          </a:prstGeom>
          <a:noFill/>
          <a:ln/>
        </p:spPr>
        <p:txBody>
          <a:bodyPr wrap="square" rtlCol="0" anchor="ctr"/>
          <a:lstStyle/>
          <a:p>
            <a:pPr marL="0" indent="0" algn="l">
              <a:buNone/>
            </a:pPr>
            <a:r>
              <a:rPr lang="en-US" sz="1200" dirty="0">
                <a:solidFill>
                  <a:srgbClr val="1B1F2A"/>
                </a:solidFill>
                <a:latin typeface="Calibri" pitchFamily="34" charset="0"/>
                <a:ea typeface="Calibri" pitchFamily="34" charset="-122"/>
                <a:cs typeface="Calibri" pitchFamily="34" charset="-120"/>
              </a:rPr>
              <a:t>Trung thực, hành động được, ổn định.</a:t>
            </a:r>
            <a:endParaRPr lang="en-US" sz="1200" dirty="0"/>
          </a:p>
        </p:txBody>
      </p:sp>
      <p:sp>
        <p:nvSpPr>
          <p:cNvPr id="18" name="Shape 15"/>
          <p:cNvSpPr/>
          <p:nvPr/>
        </p:nvSpPr>
        <p:spPr>
          <a:xfrm>
            <a:off x="548640" y="5303520"/>
            <a:ext cx="3108960" cy="914400"/>
          </a:xfrm>
          <a:prstGeom prst="roundRect">
            <a:avLst>
              <a:gd name="adj" fmla="val 6000"/>
            </a:avLst>
          </a:prstGeom>
          <a:solidFill>
            <a:srgbClr val="1A2A5E"/>
          </a:solidFill>
          <a:ln/>
        </p:spPr>
        <p:txBody>
          <a:bodyPr/>
          <a:lstStyle/>
          <a:p>
            <a:endParaRPr/>
          </a:p>
        </p:txBody>
      </p:sp>
      <p:sp>
        <p:nvSpPr>
          <p:cNvPr id="19" name="Text 16"/>
          <p:cNvSpPr/>
          <p:nvPr/>
        </p:nvSpPr>
        <p:spPr>
          <a:xfrm>
            <a:off x="685800" y="5303520"/>
            <a:ext cx="2834640" cy="914400"/>
          </a:xfrm>
          <a:prstGeom prst="rect">
            <a:avLst/>
          </a:prstGeom>
          <a:noFill/>
          <a:ln/>
        </p:spPr>
        <p:txBody>
          <a:bodyPr wrap="square" rtlCol="0" anchor="ctr"/>
          <a:lstStyle/>
          <a:p>
            <a:pPr marL="0" indent="0" algn="l">
              <a:buNone/>
            </a:pPr>
            <a:r>
              <a:rPr lang="en-US" sz="1300" dirty="0">
                <a:solidFill>
                  <a:srgbClr val="E87722"/>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 Viết bài hội nghị ICTAI 2026 (8 trang)</a:t>
            </a:r>
            <a:endParaRPr lang="en-US" sz="1300" dirty="0"/>
          </a:p>
        </p:txBody>
      </p:sp>
      <p:sp>
        <p:nvSpPr>
          <p:cNvPr id="20" name="Shape 17"/>
          <p:cNvSpPr/>
          <p:nvPr/>
        </p:nvSpPr>
        <p:spPr>
          <a:xfrm>
            <a:off x="3840480" y="5303520"/>
            <a:ext cx="7772400" cy="914400"/>
          </a:xfrm>
          <a:prstGeom prst="roundRect">
            <a:avLst>
              <a:gd name="adj" fmla="val 6000"/>
            </a:avLst>
          </a:prstGeom>
          <a:solidFill>
            <a:srgbClr val="F5F7FC"/>
          </a:solidFill>
          <a:ln/>
        </p:spPr>
        <p:txBody>
          <a:bodyPr/>
          <a:lstStyle/>
          <a:p>
            <a:endParaRPr/>
          </a:p>
        </p:txBody>
      </p:sp>
      <p:sp>
        <p:nvSpPr>
          <p:cNvPr id="21" name="Text 18"/>
          <p:cNvSpPr/>
          <p:nvPr/>
        </p:nvSpPr>
        <p:spPr>
          <a:xfrm>
            <a:off x="4023360" y="5303520"/>
            <a:ext cx="7406640" cy="914400"/>
          </a:xfrm>
          <a:prstGeom prst="rect">
            <a:avLst/>
          </a:prstGeom>
          <a:noFill/>
          <a:ln/>
        </p:spPr>
        <p:txBody>
          <a:bodyPr wrap="square" rtlCol="0" anchor="ctr"/>
          <a:lstStyle/>
          <a:p>
            <a:pPr marL="0" indent="0" algn="l">
              <a:buNone/>
            </a:pPr>
            <a:r>
              <a:rPr lang="en-US" sz="1200" dirty="0" err="1">
                <a:solidFill>
                  <a:srgbClr val="1B1F2A"/>
                </a:solidFill>
                <a:latin typeface="Calibri" pitchFamily="34" charset="0"/>
                <a:ea typeface="Calibri" pitchFamily="34" charset="-122"/>
                <a:cs typeface="Calibri" pitchFamily="34" charset="-120"/>
              </a:rPr>
              <a:t>Đã</a:t>
            </a:r>
            <a:r>
              <a:rPr lang="en-US" sz="1200" dirty="0">
                <a:solidFill>
                  <a:srgbClr val="1B1F2A"/>
                </a:solidFill>
                <a:latin typeface="Calibri" pitchFamily="34" charset="0"/>
                <a:ea typeface="Calibri" pitchFamily="34" charset="-122"/>
                <a:cs typeface="Calibri" pitchFamily="34" charset="-120"/>
              </a:rPr>
              <a:t> </a:t>
            </a:r>
            <a:r>
              <a:rPr lang="en-US" sz="1200" dirty="0" err="1">
                <a:solidFill>
                  <a:srgbClr val="1B1F2A"/>
                </a:solidFill>
                <a:latin typeface="Calibri" pitchFamily="34" charset="0"/>
                <a:ea typeface="Calibri" pitchFamily="34" charset="-122"/>
                <a:cs typeface="Calibri" pitchFamily="34" charset="-120"/>
              </a:rPr>
              <a:t>có</a:t>
            </a:r>
            <a:r>
              <a:rPr lang="en-US" sz="1200" dirty="0">
                <a:solidFill>
                  <a:srgbClr val="1B1F2A"/>
                </a:solidFill>
                <a:latin typeface="Calibri" pitchFamily="34" charset="0"/>
                <a:ea typeface="Calibri" pitchFamily="34" charset="-122"/>
                <a:cs typeface="Calibri" pitchFamily="34" charset="-120"/>
              </a:rPr>
              <a:t> bản ẩn danh để nộp.</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img/image1.png"/>
          <p:cNvPicPr>
            <a:picLocks noChangeAspect="1"/>
          </p:cNvPicPr>
          <p:nvPr/>
        </p:nvPicPr>
        <p:blipFill>
          <a:blip r:embed="rId3"/>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lang="en-US" sz="2600" b="1" dirty="0">
                <a:solidFill>
                  <a:srgbClr val="1A2A5E"/>
                </a:solidFill>
                <a:latin typeface="Cambria" pitchFamily="34" charset="0"/>
                <a:ea typeface="Cambria" pitchFamily="34" charset="-122"/>
                <a:cs typeface="Cambria" pitchFamily="34" charset="-120"/>
              </a:rPr>
              <a:t>Giao việc: Nhật Trường</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lang="en-US" sz="1300" i="1" dirty="0">
                <a:solidFill>
                  <a:srgbClr val="5A6472"/>
                </a:solidFill>
                <a:latin typeface="Calibri" pitchFamily="34" charset="0"/>
                <a:ea typeface="Calibri" pitchFamily="34" charset="-122"/>
                <a:cs typeface="Calibri" pitchFamily="34" charset="-120"/>
              </a:rPr>
              <a:t>Mở rộng cấu trúc on-manifold + actionability</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14</a:t>
            </a:r>
            <a:endParaRPr lang="en-US" sz="900" dirty="0"/>
          </a:p>
        </p:txBody>
      </p:sp>
      <p:sp>
        <p:nvSpPr>
          <p:cNvPr id="6" name="Shape 3"/>
          <p:cNvSpPr/>
          <p:nvPr/>
        </p:nvSpPr>
        <p:spPr>
          <a:xfrm>
            <a:off x="548640" y="1874520"/>
            <a:ext cx="5394960" cy="4114800"/>
          </a:xfrm>
          <a:prstGeom prst="roundRect">
            <a:avLst>
              <a:gd name="adj" fmla="val 1778"/>
            </a:avLst>
          </a:prstGeom>
          <a:solidFill>
            <a:srgbClr val="EEF2FB"/>
          </a:solidFill>
          <a:ln w="12700">
            <a:solidFill>
              <a:srgbClr val="2E4A9E"/>
            </a:solidFill>
            <a:prstDash val="solid"/>
          </a:ln>
        </p:spPr>
        <p:txBody>
          <a:bodyPr/>
          <a:lstStyle/>
          <a:p>
            <a:endParaRPr/>
          </a:p>
        </p:txBody>
      </p:sp>
      <p:sp>
        <p:nvSpPr>
          <p:cNvPr id="7" name="Text 4"/>
          <p:cNvSpPr/>
          <p:nvPr/>
        </p:nvSpPr>
        <p:spPr>
          <a:xfrm>
            <a:off x="777240" y="2011680"/>
            <a:ext cx="4937760" cy="365760"/>
          </a:xfrm>
          <a:prstGeom prst="rect">
            <a:avLst/>
          </a:prstGeom>
          <a:noFill/>
          <a:ln/>
        </p:spPr>
        <p:txBody>
          <a:bodyPr wrap="square" rtlCol="0" anchor="ctr"/>
          <a:lstStyle/>
          <a:p>
            <a:pPr marL="0" indent="0">
              <a:buNone/>
            </a:pPr>
            <a:r>
              <a:rPr lang="en-US" sz="1600" b="1" dirty="0">
                <a:solidFill>
                  <a:srgbClr val="1A2A5E"/>
                </a:solidFill>
                <a:latin typeface="Calibri" pitchFamily="34" charset="0"/>
                <a:ea typeface="Calibri" pitchFamily="34" charset="-122"/>
                <a:cs typeface="Calibri" pitchFamily="34" charset="-120"/>
              </a:rPr>
              <a:t>Việc cần làm</a:t>
            </a:r>
            <a:endParaRPr lang="en-US" sz="1600" dirty="0"/>
          </a:p>
        </p:txBody>
      </p:sp>
      <p:sp>
        <p:nvSpPr>
          <p:cNvPr id="8" name="Text 5"/>
          <p:cNvSpPr/>
          <p:nvPr/>
        </p:nvSpPr>
        <p:spPr>
          <a:xfrm>
            <a:off x="777240" y="2423160"/>
            <a:ext cx="4937760" cy="3474720"/>
          </a:xfrm>
          <a:prstGeom prst="rect">
            <a:avLst/>
          </a:prstGeom>
          <a:noFill/>
          <a:ln/>
        </p:spPr>
        <p:txBody>
          <a:bodyPr wrap="square" rtlCol="0" anchor="t"/>
          <a:lstStyle/>
          <a:p>
            <a:pPr marL="0" indent="0">
              <a:spcAft>
                <a:spcPts val="1100"/>
              </a:spcAft>
              <a:buNone/>
            </a:pPr>
            <a:r>
              <a:rPr lang="en-US" sz="1300" dirty="0">
                <a:solidFill>
                  <a:srgbClr val="1B1F2A"/>
                </a:solidFill>
                <a:latin typeface="Calibri" pitchFamily="34" charset="0"/>
                <a:ea typeface="Calibri" pitchFamily="34" charset="-122"/>
                <a:cs typeface="Calibri" pitchFamily="34" charset="-120"/>
              </a:rPr>
              <a:t>1. Thêm cách tạo 'nhà thật gần giống' khác (đa donor / mô hình sinh).</a:t>
            </a:r>
            <a:endParaRPr lang="en-US" sz="1300" dirty="0"/>
          </a:p>
          <a:p>
            <a:pPr marL="0" indent="0">
              <a:spcAft>
                <a:spcPts val="1100"/>
              </a:spcAft>
              <a:buNone/>
            </a:pPr>
            <a:r>
              <a:rPr lang="en-US" sz="1300" dirty="0">
                <a:solidFill>
                  <a:srgbClr val="1B1F2A"/>
                </a:solidFill>
                <a:latin typeface="Calibri" pitchFamily="34" charset="0"/>
                <a:ea typeface="Calibri" pitchFamily="34" charset="-122"/>
                <a:cs typeface="Calibri" pitchFamily="34" charset="-120"/>
              </a:rPr>
              <a:t>2. So sánh độ bám dữ liệu của từng cách.</a:t>
            </a:r>
            <a:endParaRPr lang="en-US" sz="1300" dirty="0"/>
          </a:p>
          <a:p>
            <a:pPr marL="0" indent="0">
              <a:spcAft>
                <a:spcPts val="1100"/>
              </a:spcAft>
              <a:buNone/>
            </a:pPr>
            <a:r>
              <a:rPr lang="en-US" sz="1300" dirty="0">
                <a:solidFill>
                  <a:srgbClr val="1B1F2A"/>
                </a:solidFill>
                <a:latin typeface="Calibri" pitchFamily="34" charset="0"/>
                <a:ea typeface="Calibri" pitchFamily="34" charset="-122"/>
                <a:cs typeface="Calibri" pitchFamily="34" charset="-120"/>
              </a:rPr>
              <a:t>3. Đo thêm actionability cho cả ba thị trường.</a:t>
            </a:r>
            <a:endParaRPr lang="en-US" sz="1300" dirty="0"/>
          </a:p>
          <a:p>
            <a:pPr marL="0" indent="0">
              <a:spcAft>
                <a:spcPts val="1100"/>
              </a:spcAft>
              <a:buNone/>
            </a:pPr>
            <a:r>
              <a:rPr lang="en-US" sz="1300" dirty="0">
                <a:solidFill>
                  <a:srgbClr val="1B1F2A"/>
                </a:solidFill>
                <a:latin typeface="Calibri" pitchFamily="34" charset="0"/>
                <a:ea typeface="Calibri" pitchFamily="34" charset="-122"/>
                <a:cs typeface="Calibri" pitchFamily="34" charset="-120"/>
              </a:rPr>
              <a:t>4. Cập nhật bảng và hình.</a:t>
            </a:r>
            <a:endParaRPr lang="en-US" sz="1300" dirty="0"/>
          </a:p>
        </p:txBody>
      </p:sp>
      <p:sp>
        <p:nvSpPr>
          <p:cNvPr id="9" name="Shape 6"/>
          <p:cNvSpPr/>
          <p:nvPr/>
        </p:nvSpPr>
        <p:spPr>
          <a:xfrm>
            <a:off x="6217920" y="1874520"/>
            <a:ext cx="5394960" cy="4114800"/>
          </a:xfrm>
          <a:prstGeom prst="roundRect">
            <a:avLst>
              <a:gd name="adj" fmla="val 1778"/>
            </a:avLst>
          </a:prstGeom>
          <a:solidFill>
            <a:srgbClr val="F5F7FC"/>
          </a:solidFill>
          <a:ln/>
        </p:spPr>
        <p:txBody>
          <a:bodyPr/>
          <a:lstStyle/>
          <a:p>
            <a:endParaRPr/>
          </a:p>
        </p:txBody>
      </p:sp>
      <p:sp>
        <p:nvSpPr>
          <p:cNvPr id="10" name="Text 7"/>
          <p:cNvSpPr/>
          <p:nvPr/>
        </p:nvSpPr>
        <p:spPr>
          <a:xfrm>
            <a:off x="6446520" y="2011680"/>
            <a:ext cx="4937760" cy="365760"/>
          </a:xfrm>
          <a:prstGeom prst="rect">
            <a:avLst/>
          </a:prstGeom>
          <a:noFill/>
          <a:ln/>
        </p:spPr>
        <p:txBody>
          <a:bodyPr wrap="square" rtlCol="0" anchor="ctr"/>
          <a:lstStyle/>
          <a:p>
            <a:pPr marL="0" indent="0">
              <a:buNone/>
            </a:pPr>
            <a:r>
              <a:rPr lang="en-US" sz="1600" b="1" dirty="0">
                <a:solidFill>
                  <a:srgbClr val="1A2A5E"/>
                </a:solidFill>
                <a:latin typeface="Calibri" pitchFamily="34" charset="0"/>
                <a:ea typeface="Calibri" pitchFamily="34" charset="-122"/>
                <a:cs typeface="Calibri" pitchFamily="34" charset="-120"/>
              </a:rPr>
              <a:t>Cách chạy số liệu</a:t>
            </a:r>
            <a:endParaRPr lang="en-US" sz="1600" dirty="0"/>
          </a:p>
        </p:txBody>
      </p:sp>
      <p:sp>
        <p:nvSpPr>
          <p:cNvPr id="11" name="Text 8"/>
          <p:cNvSpPr/>
          <p:nvPr/>
        </p:nvSpPr>
        <p:spPr>
          <a:xfrm>
            <a:off x="6446520" y="2423160"/>
            <a:ext cx="4937760" cy="3474720"/>
          </a:xfrm>
          <a:prstGeom prst="rect">
            <a:avLst/>
          </a:prstGeom>
          <a:noFill/>
          <a:ln/>
        </p:spPr>
        <p:txBody>
          <a:bodyPr wrap="square" rtlCol="0" anchor="t"/>
          <a:lstStyle/>
          <a:p>
            <a:pPr marL="0" indent="0">
              <a:spcAft>
                <a:spcPts val="1100"/>
              </a:spcAft>
              <a:buNone/>
            </a:pPr>
            <a:r>
              <a:rPr lang="en-US" sz="1250" dirty="0">
                <a:solidFill>
                  <a:srgbClr val="1B1F2A"/>
                </a:solidFill>
                <a:latin typeface="Calibri" pitchFamily="34" charset="0"/>
                <a:ea typeface="Calibri" pitchFamily="34" charset="-122"/>
                <a:cs typeface="Calibri" pitchFamily="34" charset="-120"/>
              </a:rPr>
              <a:t>• Dùng dữ liệu cache (parquet) — khỏi train lại.</a:t>
            </a:r>
            <a:endParaRPr lang="en-US" sz="1250" dirty="0"/>
          </a:p>
          <a:p>
            <a:pPr marL="0" indent="0">
              <a:spcAft>
                <a:spcPts val="1100"/>
              </a:spcAft>
              <a:buNone/>
            </a:pPr>
            <a:r>
              <a:rPr lang="en-US" sz="1250" dirty="0">
                <a:solidFill>
                  <a:srgbClr val="1B1F2A"/>
                </a:solidFill>
                <a:latin typeface="Calibri" pitchFamily="34" charset="0"/>
                <a:ea typeface="Calibri" pitchFamily="34" charset="-122"/>
                <a:cs typeface="Calibri" pitchFamily="34" charset="-120"/>
              </a:rPr>
              <a:t>• python proj/revision_kc.py → ra 3.8 vs 5.1.</a:t>
            </a:r>
            <a:endParaRPr lang="en-US" sz="1250" dirty="0"/>
          </a:p>
          <a:p>
            <a:pPr marL="0" indent="0">
              <a:spcAft>
                <a:spcPts val="1100"/>
              </a:spcAft>
              <a:buNone/>
            </a:pPr>
            <a:r>
              <a:rPr lang="en-US" sz="1250" dirty="0">
                <a:solidFill>
                  <a:srgbClr val="1B1F2A"/>
                </a:solidFill>
                <a:latin typeface="Calibri" pitchFamily="34" charset="0"/>
                <a:ea typeface="Calibri" pitchFamily="34" charset="-122"/>
                <a:cs typeface="Calibri" pitchFamily="34" charset="-120"/>
              </a:rPr>
              <a:t>• python extra_data/california_audit.py; ames_audit.py.</a:t>
            </a:r>
            <a:endParaRPr lang="en-US" sz="1250" dirty="0"/>
          </a:p>
          <a:p>
            <a:pPr marL="0" indent="0">
              <a:spcAft>
                <a:spcPts val="1100"/>
              </a:spcAft>
              <a:buNone/>
            </a:pPr>
            <a:r>
              <a:rPr lang="en-US" sz="1250" dirty="0">
                <a:solidFill>
                  <a:srgbClr val="1B1F2A"/>
                </a:solidFill>
                <a:latin typeface="Calibri" pitchFamily="34" charset="0"/>
                <a:ea typeface="Calibri" pitchFamily="34" charset="-122"/>
                <a:cs typeface="Calibri" pitchFamily="34" charset="-120"/>
              </a:rPr>
              <a:t>• Sửa hàm donor() trong proj/onmanifold_audit.py.</a:t>
            </a:r>
            <a:endParaRPr lang="en-US" sz="1250" dirty="0"/>
          </a:p>
          <a:p>
            <a:pPr marL="0" indent="0">
              <a:spcAft>
                <a:spcPts val="1100"/>
              </a:spcAft>
              <a:buNone/>
            </a:pPr>
            <a:r>
              <a:rPr lang="en-US" sz="1250" dirty="0">
                <a:solidFill>
                  <a:srgbClr val="1B1F2A"/>
                </a:solidFill>
                <a:latin typeface="Calibri" pitchFamily="34" charset="0"/>
                <a:ea typeface="Calibri" pitchFamily="34" charset="-122"/>
                <a:cs typeface="Calibri" pitchFamily="34" charset="-120"/>
              </a:rPr>
              <a:t>Mốc: tuần 1–4.</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sz="2500" b="1">
                <a:latin typeface="Cambria"/>
              </a:rPr>
              <a:t>Kết quả: cấu trúc on-manifold</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sz="1300" b="0">
                <a:latin typeface="Calibri"/>
              </a:rPr>
              <a:t>Multi-donor + mô hình sinh: bám dữ liệu thật</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sz="900" b="0">
                <a:latin typeface="Calibri"/>
              </a:rPr>
              <a:t>15</a:t>
            </a:r>
            <a:endParaRPr lang="en-US" sz="900" dirty="0"/>
          </a:p>
        </p:txBody>
      </p:sp>
      <p:sp>
        <p:nvSpPr>
          <p:cNvPr id="6" name="Shape 3"/>
          <p:cNvSpPr/>
          <p:nvPr/>
        </p:nvSpPr>
        <p:spPr>
          <a:xfrm>
            <a:off x="548640" y="1874520"/>
            <a:ext cx="5394960" cy="4114800"/>
          </a:xfrm>
          <a:prstGeom prst="roundRect">
            <a:avLst>
              <a:gd name="adj" fmla="val 1778"/>
            </a:avLst>
          </a:prstGeom>
          <a:solidFill>
            <a:srgbClr val="EEF2FB"/>
          </a:solidFill>
          <a:ln w="12700">
            <a:solidFill>
              <a:srgbClr val="2E4A9E"/>
            </a:solidFill>
            <a:prstDash val="solid"/>
          </a:ln>
        </p:spPr>
        <p:txBody>
          <a:bodyPr/>
          <a:lstStyle/>
          <a:p>
            <a:endParaRPr/>
          </a:p>
        </p:txBody>
      </p:sp>
      <p:sp>
        <p:nvSpPr>
          <p:cNvPr id="7" name="Text 4"/>
          <p:cNvSpPr/>
          <p:nvPr/>
        </p:nvSpPr>
        <p:spPr>
          <a:xfrm>
            <a:off x="777240" y="2011680"/>
            <a:ext cx="4937760" cy="365760"/>
          </a:xfrm>
          <a:prstGeom prst="rect">
            <a:avLst/>
          </a:prstGeom>
          <a:noFill/>
          <a:ln/>
        </p:spPr>
        <p:txBody>
          <a:bodyPr wrap="square" rtlCol="0" anchor="ctr"/>
          <a:lstStyle/>
          <a:p>
            <a:pPr marL="0" indent="0">
              <a:buNone/>
            </a:pPr>
            <a:r>
              <a:rPr sz="1600" b="1">
                <a:latin typeface="Calibri"/>
              </a:rPr>
              <a:t>Cách tạo nhà thay thế</a:t>
            </a:r>
            <a:endParaRPr lang="en-US" sz="1600" dirty="0"/>
          </a:p>
        </p:txBody>
      </p:sp>
      <p:sp>
        <p:nvSpPr>
          <p:cNvPr id="8" name="Text 5"/>
          <p:cNvSpPr/>
          <p:nvPr/>
        </p:nvSpPr>
        <p:spPr>
          <a:xfrm>
            <a:off x="777240" y="2423160"/>
            <a:ext cx="4937760" cy="3474720"/>
          </a:xfrm>
          <a:prstGeom prst="rect">
            <a:avLst/>
          </a:prstGeom>
          <a:noFill/>
          <a:ln/>
        </p:spPr>
        <p:txBody>
          <a:bodyPr wrap="square" rtlCol="0" anchor="t"/>
          <a:lstStyle/>
          <a:p>
            <a:pPr marL="0" indent="0">
              <a:spcAft>
                <a:spcPts val="1100"/>
              </a:spcAft>
              <a:buNone/>
            </a:pPr>
            <a:r>
              <a:rPr sz="1230" b="0" dirty="0">
                <a:latin typeface="Calibri"/>
              </a:rPr>
              <a:t>1. mean-fill: baseline </a:t>
            </a:r>
            <a:r>
              <a:rPr sz="1230" b="0" dirty="0" err="1">
                <a:latin typeface="Calibri"/>
              </a:rPr>
              <a:t>thay</a:t>
            </a:r>
            <a:r>
              <a:rPr sz="1230" b="0" dirty="0">
                <a:latin typeface="Calibri"/>
              </a:rPr>
              <a:t> </a:t>
            </a:r>
            <a:r>
              <a:rPr sz="1230" b="0" dirty="0" err="1">
                <a:latin typeface="Calibri"/>
              </a:rPr>
              <a:t>bằng</a:t>
            </a:r>
            <a:r>
              <a:rPr sz="1230" b="0" dirty="0">
                <a:latin typeface="Calibri"/>
              </a:rPr>
              <a:t> </a:t>
            </a:r>
            <a:r>
              <a:rPr sz="1230" b="0" dirty="0" err="1">
                <a:latin typeface="Calibri"/>
              </a:rPr>
              <a:t>trung</a:t>
            </a:r>
            <a:r>
              <a:rPr sz="1230" b="0" dirty="0">
                <a:latin typeface="Calibri"/>
              </a:rPr>
              <a:t> </a:t>
            </a:r>
            <a:r>
              <a:rPr sz="1230" b="0" dirty="0" err="1">
                <a:latin typeface="Calibri"/>
              </a:rPr>
              <a:t>bình</a:t>
            </a:r>
            <a:r>
              <a:rPr sz="1230" b="0" dirty="0">
                <a:latin typeface="Calibri"/>
              </a:rPr>
              <a:t>, </a:t>
            </a:r>
            <a:r>
              <a:rPr sz="1230" b="0" dirty="0" err="1">
                <a:latin typeface="Calibri"/>
              </a:rPr>
              <a:t>dễ</a:t>
            </a:r>
            <a:r>
              <a:rPr sz="1230" b="0" dirty="0">
                <a:latin typeface="Calibri"/>
              </a:rPr>
              <a:t> OOD.</a:t>
            </a:r>
            <a:endParaRPr lang="en-US" sz="1300" dirty="0"/>
          </a:p>
          <a:p>
            <a:r>
              <a:rPr sz="1230" b="0" dirty="0">
                <a:latin typeface="Calibri"/>
              </a:rPr>
              <a:t>2. 1-donor: </a:t>
            </a:r>
            <a:r>
              <a:rPr sz="1230" b="0" dirty="0" err="1">
                <a:latin typeface="Calibri"/>
              </a:rPr>
              <a:t>lấy</a:t>
            </a:r>
            <a:r>
              <a:rPr sz="1230" b="0" dirty="0">
                <a:latin typeface="Calibri"/>
              </a:rPr>
              <a:t> </a:t>
            </a:r>
            <a:r>
              <a:rPr sz="1230" b="0" dirty="0" err="1">
                <a:latin typeface="Calibri"/>
              </a:rPr>
              <a:t>căn</a:t>
            </a:r>
            <a:r>
              <a:rPr sz="1230" b="0" dirty="0">
                <a:latin typeface="Calibri"/>
              </a:rPr>
              <a:t> </a:t>
            </a:r>
            <a:r>
              <a:rPr sz="1230" b="0" dirty="0" err="1">
                <a:latin typeface="Calibri"/>
              </a:rPr>
              <a:t>thật</a:t>
            </a:r>
            <a:r>
              <a:rPr sz="1230" b="0" dirty="0">
                <a:latin typeface="Calibri"/>
              </a:rPr>
              <a:t> </a:t>
            </a:r>
            <a:r>
              <a:rPr sz="1230" b="0" dirty="0" err="1">
                <a:latin typeface="Calibri"/>
              </a:rPr>
              <a:t>gần</a:t>
            </a:r>
            <a:r>
              <a:rPr sz="1230" b="0" dirty="0">
                <a:latin typeface="Calibri"/>
              </a:rPr>
              <a:t> </a:t>
            </a:r>
            <a:r>
              <a:rPr sz="1230" b="0" dirty="0" err="1">
                <a:latin typeface="Calibri"/>
              </a:rPr>
              <a:t>nhất</a:t>
            </a:r>
            <a:r>
              <a:rPr sz="1230" b="0" dirty="0">
                <a:latin typeface="Calibri"/>
              </a:rPr>
              <a:t> </a:t>
            </a:r>
            <a:r>
              <a:rPr sz="1230" b="0" dirty="0" err="1">
                <a:latin typeface="Calibri"/>
              </a:rPr>
              <a:t>theo</a:t>
            </a:r>
            <a:r>
              <a:rPr sz="1230" b="0" dirty="0">
                <a:latin typeface="Calibri"/>
              </a:rPr>
              <a:t> feature </a:t>
            </a:r>
            <a:r>
              <a:rPr sz="1230" b="0" dirty="0" err="1">
                <a:latin typeface="Calibri"/>
              </a:rPr>
              <a:t>giữ</a:t>
            </a:r>
            <a:r>
              <a:rPr sz="1230" b="0" dirty="0">
                <a:latin typeface="Calibri"/>
              </a:rPr>
              <a:t> </a:t>
            </a:r>
            <a:r>
              <a:rPr sz="1230" b="0" dirty="0" err="1">
                <a:latin typeface="Calibri"/>
              </a:rPr>
              <a:t>lại</a:t>
            </a:r>
            <a:r>
              <a:rPr sz="1230" b="0" dirty="0">
                <a:latin typeface="Calibri"/>
              </a:rPr>
              <a:t>.</a:t>
            </a:r>
            <a:endParaRPr lang="en-US" sz="1230" b="0" dirty="0">
              <a:latin typeface="Calibri"/>
            </a:endParaRPr>
          </a:p>
          <a:p>
            <a:endParaRPr sz="1230" b="0" dirty="0">
              <a:latin typeface="Calibri"/>
            </a:endParaRPr>
          </a:p>
          <a:p>
            <a:r>
              <a:rPr sz="1230" b="0" dirty="0">
                <a:latin typeface="Calibri"/>
              </a:rPr>
              <a:t>3. 3/5-donor: </a:t>
            </a:r>
            <a:r>
              <a:rPr sz="1230" b="0" dirty="0" err="1">
                <a:latin typeface="Calibri"/>
              </a:rPr>
              <a:t>lấy</a:t>
            </a:r>
            <a:r>
              <a:rPr sz="1230" b="0" dirty="0">
                <a:latin typeface="Calibri"/>
              </a:rPr>
              <a:t> </a:t>
            </a:r>
            <a:r>
              <a:rPr sz="1230" b="0" dirty="0" err="1">
                <a:latin typeface="Calibri"/>
              </a:rPr>
              <a:t>trung</a:t>
            </a:r>
            <a:r>
              <a:rPr sz="1230" b="0" dirty="0">
                <a:latin typeface="Calibri"/>
              </a:rPr>
              <a:t> </a:t>
            </a:r>
            <a:r>
              <a:rPr sz="1230" b="0" dirty="0" err="1">
                <a:latin typeface="Calibri"/>
              </a:rPr>
              <a:t>vị</a:t>
            </a:r>
            <a:r>
              <a:rPr sz="1230" b="0" dirty="0">
                <a:latin typeface="Calibri"/>
              </a:rPr>
              <a:t> </a:t>
            </a:r>
            <a:r>
              <a:rPr sz="1230" b="0" dirty="0" err="1">
                <a:latin typeface="Calibri"/>
              </a:rPr>
              <a:t>từ</a:t>
            </a:r>
            <a:r>
              <a:rPr sz="1230" b="0" dirty="0">
                <a:latin typeface="Calibri"/>
              </a:rPr>
              <a:t> </a:t>
            </a:r>
            <a:r>
              <a:rPr sz="1230" b="0" dirty="0" err="1">
                <a:latin typeface="Calibri"/>
              </a:rPr>
              <a:t>nhiều</a:t>
            </a:r>
            <a:r>
              <a:rPr sz="1230" b="0" dirty="0">
                <a:latin typeface="Calibri"/>
              </a:rPr>
              <a:t> </a:t>
            </a:r>
            <a:r>
              <a:rPr sz="1230" b="0" dirty="0" err="1">
                <a:latin typeface="Calibri"/>
              </a:rPr>
              <a:t>căn</a:t>
            </a:r>
            <a:r>
              <a:rPr sz="1230" b="0" dirty="0">
                <a:latin typeface="Calibri"/>
              </a:rPr>
              <a:t> </a:t>
            </a:r>
            <a:r>
              <a:rPr sz="1230" b="0" dirty="0" err="1">
                <a:latin typeface="Calibri"/>
              </a:rPr>
              <a:t>gần</a:t>
            </a:r>
            <a:r>
              <a:rPr sz="1230" b="0" dirty="0">
                <a:latin typeface="Calibri"/>
              </a:rPr>
              <a:t> </a:t>
            </a:r>
            <a:r>
              <a:rPr sz="1230" b="0" dirty="0" err="1">
                <a:latin typeface="Calibri"/>
              </a:rPr>
              <a:t>nhất</a:t>
            </a:r>
            <a:r>
              <a:rPr sz="1230" b="0" dirty="0">
                <a:latin typeface="Calibri"/>
              </a:rPr>
              <a:t>.</a:t>
            </a:r>
            <a:endParaRPr lang="en-US" sz="1230" b="0" dirty="0">
              <a:latin typeface="Calibri"/>
            </a:endParaRPr>
          </a:p>
          <a:p>
            <a:endParaRPr sz="1230" b="0" dirty="0">
              <a:latin typeface="Calibri"/>
            </a:endParaRPr>
          </a:p>
          <a:p>
            <a:r>
              <a:rPr sz="1230" b="0" dirty="0">
                <a:latin typeface="Calibri"/>
              </a:rPr>
              <a:t>4. gen-local: </a:t>
            </a:r>
            <a:r>
              <a:rPr sz="1230" b="0" dirty="0" err="1">
                <a:latin typeface="Calibri"/>
              </a:rPr>
              <a:t>sinh</a:t>
            </a:r>
            <a:r>
              <a:rPr sz="1230" b="0" dirty="0">
                <a:latin typeface="Calibri"/>
              </a:rPr>
              <a:t> feature </a:t>
            </a:r>
            <a:r>
              <a:rPr sz="1230" b="0" dirty="0" err="1">
                <a:latin typeface="Calibri"/>
              </a:rPr>
              <a:t>bằng</a:t>
            </a:r>
            <a:r>
              <a:rPr sz="1230" b="0" dirty="0">
                <a:latin typeface="Calibri"/>
              </a:rPr>
              <a:t> Gaussian </a:t>
            </a:r>
            <a:r>
              <a:rPr sz="1230" b="0" dirty="0" err="1">
                <a:latin typeface="Calibri"/>
              </a:rPr>
              <a:t>cục</a:t>
            </a:r>
            <a:r>
              <a:rPr sz="1230" b="0" dirty="0">
                <a:latin typeface="Calibri"/>
              </a:rPr>
              <a:t> </a:t>
            </a:r>
            <a:r>
              <a:rPr sz="1230" b="0" dirty="0" err="1">
                <a:latin typeface="Calibri"/>
              </a:rPr>
              <a:t>bộ</a:t>
            </a:r>
            <a:r>
              <a:rPr sz="1230" b="0" dirty="0">
                <a:latin typeface="Calibri"/>
              </a:rPr>
              <a:t> </a:t>
            </a:r>
            <a:r>
              <a:rPr sz="1230" b="0" dirty="0" err="1">
                <a:latin typeface="Calibri"/>
              </a:rPr>
              <a:t>có</a:t>
            </a:r>
            <a:r>
              <a:rPr sz="1230" b="0" dirty="0">
                <a:latin typeface="Calibri"/>
              </a:rPr>
              <a:t> </a:t>
            </a:r>
            <a:r>
              <a:rPr sz="1230" b="0" dirty="0" err="1">
                <a:latin typeface="Calibri"/>
              </a:rPr>
              <a:t>điều</a:t>
            </a:r>
            <a:r>
              <a:rPr sz="1230" b="0" dirty="0">
                <a:latin typeface="Calibri"/>
              </a:rPr>
              <a:t> </a:t>
            </a:r>
            <a:r>
              <a:rPr sz="1230" b="0" dirty="0" err="1">
                <a:latin typeface="Calibri"/>
              </a:rPr>
              <a:t>kiện</a:t>
            </a:r>
            <a:r>
              <a:rPr sz="1230" b="0" dirty="0">
                <a:latin typeface="Calibri"/>
              </a:rPr>
              <a:t>.</a:t>
            </a:r>
          </a:p>
        </p:txBody>
      </p:sp>
      <p:sp>
        <p:nvSpPr>
          <p:cNvPr id="9" name="Shape 6"/>
          <p:cNvSpPr/>
          <p:nvPr/>
        </p:nvSpPr>
        <p:spPr>
          <a:xfrm>
            <a:off x="6217920" y="1874520"/>
            <a:ext cx="5394960" cy="4114800"/>
          </a:xfrm>
          <a:prstGeom prst="roundRect">
            <a:avLst>
              <a:gd name="adj" fmla="val 1778"/>
            </a:avLst>
          </a:prstGeom>
          <a:solidFill>
            <a:srgbClr val="F5F7FC"/>
          </a:solidFill>
          <a:ln/>
        </p:spPr>
        <p:txBody>
          <a:bodyPr/>
          <a:lstStyle/>
          <a:p>
            <a:endParaRPr/>
          </a:p>
        </p:txBody>
      </p:sp>
      <p:sp>
        <p:nvSpPr>
          <p:cNvPr id="10" name="Text 7"/>
          <p:cNvSpPr/>
          <p:nvPr/>
        </p:nvSpPr>
        <p:spPr>
          <a:xfrm>
            <a:off x="6236208" y="1911096"/>
            <a:ext cx="4937760" cy="365760"/>
          </a:xfrm>
          <a:prstGeom prst="rect">
            <a:avLst/>
          </a:prstGeom>
          <a:noFill/>
          <a:ln/>
        </p:spPr>
        <p:txBody>
          <a:bodyPr wrap="square" rtlCol="0" anchor="ctr"/>
          <a:lstStyle/>
          <a:p>
            <a:pPr marL="0" indent="0">
              <a:buNone/>
            </a:pPr>
            <a:r>
              <a:rPr sz="1600" b="1" dirty="0" err="1">
                <a:latin typeface="Calibri"/>
              </a:rPr>
              <a:t>Độ</a:t>
            </a:r>
            <a:r>
              <a:rPr sz="1600" b="1" dirty="0">
                <a:latin typeface="Calibri"/>
              </a:rPr>
              <a:t> </a:t>
            </a:r>
            <a:r>
              <a:rPr sz="1600" b="1" dirty="0" err="1">
                <a:latin typeface="Calibri"/>
              </a:rPr>
              <a:t>bám</a:t>
            </a:r>
            <a:r>
              <a:rPr sz="1600" b="1" dirty="0">
                <a:latin typeface="Calibri"/>
              </a:rPr>
              <a:t> </a:t>
            </a:r>
            <a:r>
              <a:rPr sz="1600" b="1" dirty="0" err="1">
                <a:latin typeface="Calibri"/>
              </a:rPr>
              <a:t>dữ</a:t>
            </a:r>
            <a:r>
              <a:rPr sz="1600" b="1" dirty="0">
                <a:latin typeface="Calibri"/>
              </a:rPr>
              <a:t> </a:t>
            </a:r>
            <a:r>
              <a:rPr sz="1600" b="1" dirty="0" err="1">
                <a:latin typeface="Calibri"/>
              </a:rPr>
              <a:t>liệu</a:t>
            </a:r>
            <a:r>
              <a:rPr sz="1600" b="1" dirty="0">
                <a:latin typeface="Calibri"/>
              </a:rPr>
              <a:t> (</a:t>
            </a:r>
            <a:r>
              <a:rPr sz="1600" b="1" dirty="0" err="1">
                <a:latin typeface="Calibri"/>
              </a:rPr>
              <a:t>khoảng</a:t>
            </a:r>
            <a:r>
              <a:rPr sz="1600" b="1" dirty="0">
                <a:latin typeface="Calibri"/>
              </a:rPr>
              <a:t> </a:t>
            </a:r>
            <a:r>
              <a:rPr sz="1600" b="1" dirty="0" err="1">
                <a:latin typeface="Calibri"/>
              </a:rPr>
              <a:t>cách</a:t>
            </a:r>
            <a:r>
              <a:rPr sz="1600" b="1" dirty="0">
                <a:latin typeface="Calibri"/>
              </a:rPr>
              <a:t> ↓)</a:t>
            </a:r>
            <a:endParaRPr lang="en-US" sz="1600" dirty="0"/>
          </a:p>
        </p:txBody>
      </p:sp>
      <p:sp>
        <p:nvSpPr>
          <p:cNvPr id="11" name="Text 8"/>
          <p:cNvSpPr/>
          <p:nvPr/>
        </p:nvSpPr>
        <p:spPr>
          <a:xfrm>
            <a:off x="6446520" y="2423160"/>
            <a:ext cx="4937760" cy="3474720"/>
          </a:xfrm>
          <a:prstGeom prst="rect">
            <a:avLst/>
          </a:prstGeom>
          <a:noFill/>
          <a:ln/>
        </p:spPr>
        <p:txBody>
          <a:bodyPr wrap="square" rtlCol="0" anchor="t"/>
          <a:lstStyle/>
          <a:p>
            <a:pPr marL="0" indent="0">
              <a:spcAft>
                <a:spcPts val="1100"/>
              </a:spcAft>
              <a:buNone/>
            </a:pPr>
            <a:endParaRPr lang="en-US" sz="1250" dirty="0"/>
          </a:p>
        </p:txBody>
      </p:sp>
      <p:graphicFrame>
        <p:nvGraphicFramePr>
          <p:cNvPr id="12" name="Table 11"/>
          <p:cNvGraphicFramePr>
            <a:graphicFrameLocks noGrp="1"/>
          </p:cNvGraphicFramePr>
          <p:nvPr>
            <p:extLst>
              <p:ext uri="{D42A27DB-BD31-4B8C-83A1-F6EECF244321}">
                <p14:modId xmlns:p14="http://schemas.microsoft.com/office/powerpoint/2010/main" val="1344948199"/>
              </p:ext>
            </p:extLst>
          </p:nvPr>
        </p:nvGraphicFramePr>
        <p:xfrm>
          <a:off x="6744208" y="2410421"/>
          <a:ext cx="4572000" cy="224028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373380">
                <a:tc>
                  <a:txBody>
                    <a:bodyPr/>
                    <a:lstStyle/>
                    <a:p>
                      <a:pPr algn="ctr"/>
                      <a:r>
                        <a:rPr sz="840" b="1">
                          <a:latin typeface="Calibri"/>
                        </a:rPr>
                        <a:t>Cách</a:t>
                      </a:r>
                    </a:p>
                  </a:txBody>
                  <a:tcPr marL="36576" marR="36576" marT="18288" marB="18288">
                    <a:solidFill>
                      <a:srgbClr val="DAE6F2"/>
                    </a:solidFill>
                  </a:tcPr>
                </a:tc>
                <a:tc>
                  <a:txBody>
                    <a:bodyPr/>
                    <a:lstStyle/>
                    <a:p>
                      <a:pPr algn="ctr"/>
                      <a:r>
                        <a:rPr sz="840" b="1">
                          <a:latin typeface="Calibri"/>
                        </a:rPr>
                        <a:t>King</a:t>
                      </a:r>
                    </a:p>
                  </a:txBody>
                  <a:tcPr marL="36576" marR="36576" marT="18288" marB="18288">
                    <a:solidFill>
                      <a:srgbClr val="DAE6F2"/>
                    </a:solidFill>
                  </a:tcPr>
                </a:tc>
                <a:tc>
                  <a:txBody>
                    <a:bodyPr/>
                    <a:lstStyle/>
                    <a:p>
                      <a:pPr algn="ctr"/>
                      <a:r>
                        <a:rPr sz="840" b="1" dirty="0">
                          <a:latin typeface="Calibri"/>
                        </a:rPr>
                        <a:t>Calif.</a:t>
                      </a:r>
                    </a:p>
                  </a:txBody>
                  <a:tcPr marL="36576" marR="36576" marT="18288" marB="18288">
                    <a:solidFill>
                      <a:srgbClr val="DAE6F2"/>
                    </a:solidFill>
                  </a:tcPr>
                </a:tc>
                <a:tc>
                  <a:txBody>
                    <a:bodyPr/>
                    <a:lstStyle/>
                    <a:p>
                      <a:pPr algn="ctr"/>
                      <a:r>
                        <a:rPr sz="840" b="1">
                          <a:latin typeface="Calibri"/>
                        </a:rPr>
                        <a:t>Ames</a:t>
                      </a:r>
                    </a:p>
                  </a:txBody>
                  <a:tcPr marL="36576" marR="36576" marT="18288" marB="18288">
                    <a:solidFill>
                      <a:srgbClr val="DAE6F2"/>
                    </a:solidFill>
                  </a:tcPr>
                </a:tc>
                <a:extLst>
                  <a:ext uri="{0D108BD9-81ED-4DB2-BD59-A6C34878D82A}">
                    <a16:rowId xmlns:a16="http://schemas.microsoft.com/office/drawing/2014/main" val="10000"/>
                  </a:ext>
                </a:extLst>
              </a:tr>
              <a:tr h="373380">
                <a:tc>
                  <a:txBody>
                    <a:bodyPr/>
                    <a:lstStyle/>
                    <a:p>
                      <a:pPr algn="ctr"/>
                      <a:r>
                        <a:rPr sz="840" b="0">
                          <a:latin typeface="Calibri"/>
                        </a:rPr>
                        <a:t>mean-fill</a:t>
                      </a:r>
                    </a:p>
                  </a:txBody>
                  <a:tcPr marL="36576" marR="36576" marT="18288" marB="18288">
                    <a:solidFill>
                      <a:srgbClr val="FAFCFF"/>
                    </a:solidFill>
                  </a:tcPr>
                </a:tc>
                <a:tc>
                  <a:txBody>
                    <a:bodyPr/>
                    <a:lstStyle/>
                    <a:p>
                      <a:pPr algn="ctr"/>
                      <a:r>
                        <a:rPr sz="840" b="0">
                          <a:latin typeface="Calibri"/>
                        </a:rPr>
                        <a:t>6.1</a:t>
                      </a:r>
                    </a:p>
                  </a:txBody>
                  <a:tcPr marL="36576" marR="36576" marT="18288" marB="18288">
                    <a:solidFill>
                      <a:srgbClr val="FAFCFF"/>
                    </a:solidFill>
                  </a:tcPr>
                </a:tc>
                <a:tc>
                  <a:txBody>
                    <a:bodyPr/>
                    <a:lstStyle/>
                    <a:p>
                      <a:pPr algn="ctr"/>
                      <a:r>
                        <a:rPr sz="840" b="0">
                          <a:latin typeface="Calibri"/>
                        </a:rPr>
                        <a:t>3.0</a:t>
                      </a:r>
                    </a:p>
                  </a:txBody>
                  <a:tcPr marL="36576" marR="36576" marT="18288" marB="18288">
                    <a:solidFill>
                      <a:srgbClr val="FAFCFF"/>
                    </a:solidFill>
                  </a:tcPr>
                </a:tc>
                <a:tc>
                  <a:txBody>
                    <a:bodyPr/>
                    <a:lstStyle/>
                    <a:p>
                      <a:pPr algn="ctr"/>
                      <a:r>
                        <a:rPr sz="840" b="0">
                          <a:latin typeface="Calibri"/>
                        </a:rPr>
                        <a:t>3.9</a:t>
                      </a:r>
                    </a:p>
                  </a:txBody>
                  <a:tcPr marL="36576" marR="36576" marT="18288" marB="18288">
                    <a:solidFill>
                      <a:srgbClr val="FAFCFF"/>
                    </a:solidFill>
                  </a:tcPr>
                </a:tc>
                <a:extLst>
                  <a:ext uri="{0D108BD9-81ED-4DB2-BD59-A6C34878D82A}">
                    <a16:rowId xmlns:a16="http://schemas.microsoft.com/office/drawing/2014/main" val="10001"/>
                  </a:ext>
                </a:extLst>
              </a:tr>
              <a:tr h="373380">
                <a:tc>
                  <a:txBody>
                    <a:bodyPr/>
                    <a:lstStyle/>
                    <a:p>
                      <a:pPr algn="ctr"/>
                      <a:r>
                        <a:rPr sz="840" b="0">
                          <a:latin typeface="Calibri"/>
                        </a:rPr>
                        <a:t>1-donor</a:t>
                      </a:r>
                    </a:p>
                  </a:txBody>
                  <a:tcPr marL="36576" marR="36576" marT="18288" marB="18288">
                    <a:solidFill>
                      <a:srgbClr val="FAFCFF"/>
                    </a:solidFill>
                  </a:tcPr>
                </a:tc>
                <a:tc>
                  <a:txBody>
                    <a:bodyPr/>
                    <a:lstStyle/>
                    <a:p>
                      <a:pPr algn="ctr"/>
                      <a:r>
                        <a:rPr sz="840" b="0">
                          <a:latin typeface="Calibri"/>
                        </a:rPr>
                        <a:t>4.1</a:t>
                      </a:r>
                    </a:p>
                  </a:txBody>
                  <a:tcPr marL="36576" marR="36576" marT="18288" marB="18288">
                    <a:solidFill>
                      <a:srgbClr val="FAFCFF"/>
                    </a:solidFill>
                  </a:tcPr>
                </a:tc>
                <a:tc>
                  <a:txBody>
                    <a:bodyPr/>
                    <a:lstStyle/>
                    <a:p>
                      <a:pPr algn="ctr"/>
                      <a:r>
                        <a:rPr sz="840" b="0">
                          <a:latin typeface="Calibri"/>
                        </a:rPr>
                        <a:t>1.7</a:t>
                      </a:r>
                    </a:p>
                  </a:txBody>
                  <a:tcPr marL="36576" marR="36576" marT="18288" marB="18288">
                    <a:solidFill>
                      <a:srgbClr val="FAFCFF"/>
                    </a:solidFill>
                  </a:tcPr>
                </a:tc>
                <a:tc>
                  <a:txBody>
                    <a:bodyPr/>
                    <a:lstStyle/>
                    <a:p>
                      <a:pPr algn="ctr"/>
                      <a:r>
                        <a:rPr sz="840" b="0">
                          <a:latin typeface="Calibri"/>
                        </a:rPr>
                        <a:t>2.1</a:t>
                      </a:r>
                    </a:p>
                  </a:txBody>
                  <a:tcPr marL="36576" marR="36576" marT="18288" marB="18288">
                    <a:solidFill>
                      <a:srgbClr val="FAFCFF"/>
                    </a:solidFill>
                  </a:tcPr>
                </a:tc>
                <a:extLst>
                  <a:ext uri="{0D108BD9-81ED-4DB2-BD59-A6C34878D82A}">
                    <a16:rowId xmlns:a16="http://schemas.microsoft.com/office/drawing/2014/main" val="10002"/>
                  </a:ext>
                </a:extLst>
              </a:tr>
              <a:tr h="373380">
                <a:tc>
                  <a:txBody>
                    <a:bodyPr/>
                    <a:lstStyle/>
                    <a:p>
                      <a:pPr algn="ctr"/>
                      <a:r>
                        <a:rPr sz="840" b="0">
                          <a:latin typeface="Calibri"/>
                        </a:rPr>
                        <a:t>3-donor</a:t>
                      </a:r>
                    </a:p>
                  </a:txBody>
                  <a:tcPr marL="36576" marR="36576" marT="18288" marB="18288">
                    <a:solidFill>
                      <a:srgbClr val="FAFCFF"/>
                    </a:solidFill>
                  </a:tcPr>
                </a:tc>
                <a:tc>
                  <a:txBody>
                    <a:bodyPr/>
                    <a:lstStyle/>
                    <a:p>
                      <a:pPr algn="ctr"/>
                      <a:r>
                        <a:rPr sz="840" b="0">
                          <a:latin typeface="Calibri"/>
                        </a:rPr>
                        <a:t>4.7</a:t>
                      </a:r>
                    </a:p>
                  </a:txBody>
                  <a:tcPr marL="36576" marR="36576" marT="18288" marB="18288">
                    <a:solidFill>
                      <a:srgbClr val="FAFCFF"/>
                    </a:solidFill>
                  </a:tcPr>
                </a:tc>
                <a:tc>
                  <a:txBody>
                    <a:bodyPr/>
                    <a:lstStyle/>
                    <a:p>
                      <a:pPr algn="ctr"/>
                      <a:r>
                        <a:rPr sz="840" b="0">
                          <a:latin typeface="Calibri"/>
                        </a:rPr>
                        <a:t>2.1</a:t>
                      </a:r>
                    </a:p>
                  </a:txBody>
                  <a:tcPr marL="36576" marR="36576" marT="18288" marB="18288">
                    <a:solidFill>
                      <a:srgbClr val="FAFCFF"/>
                    </a:solidFill>
                  </a:tcPr>
                </a:tc>
                <a:tc>
                  <a:txBody>
                    <a:bodyPr/>
                    <a:lstStyle/>
                    <a:p>
                      <a:pPr algn="ctr"/>
                      <a:r>
                        <a:rPr sz="840" b="0">
                          <a:latin typeface="Calibri"/>
                        </a:rPr>
                        <a:t>3.0</a:t>
                      </a:r>
                    </a:p>
                  </a:txBody>
                  <a:tcPr marL="36576" marR="36576" marT="18288" marB="18288">
                    <a:solidFill>
                      <a:srgbClr val="FAFCFF"/>
                    </a:solidFill>
                  </a:tcPr>
                </a:tc>
                <a:extLst>
                  <a:ext uri="{0D108BD9-81ED-4DB2-BD59-A6C34878D82A}">
                    <a16:rowId xmlns:a16="http://schemas.microsoft.com/office/drawing/2014/main" val="10003"/>
                  </a:ext>
                </a:extLst>
              </a:tr>
              <a:tr h="373380">
                <a:tc>
                  <a:txBody>
                    <a:bodyPr/>
                    <a:lstStyle/>
                    <a:p>
                      <a:pPr algn="ctr"/>
                      <a:r>
                        <a:rPr sz="840" b="0">
                          <a:latin typeface="Calibri"/>
                        </a:rPr>
                        <a:t>5-donor</a:t>
                      </a:r>
                    </a:p>
                  </a:txBody>
                  <a:tcPr marL="36576" marR="36576" marT="18288" marB="18288">
                    <a:solidFill>
                      <a:srgbClr val="FAFCFF"/>
                    </a:solidFill>
                  </a:tcPr>
                </a:tc>
                <a:tc>
                  <a:txBody>
                    <a:bodyPr/>
                    <a:lstStyle/>
                    <a:p>
                      <a:pPr algn="ctr"/>
                      <a:r>
                        <a:rPr sz="840" b="0">
                          <a:latin typeface="Calibri"/>
                        </a:rPr>
                        <a:t>5.0</a:t>
                      </a:r>
                    </a:p>
                  </a:txBody>
                  <a:tcPr marL="36576" marR="36576" marT="18288" marB="18288">
                    <a:solidFill>
                      <a:srgbClr val="FAFCFF"/>
                    </a:solidFill>
                  </a:tcPr>
                </a:tc>
                <a:tc>
                  <a:txBody>
                    <a:bodyPr/>
                    <a:lstStyle/>
                    <a:p>
                      <a:pPr algn="ctr"/>
                      <a:r>
                        <a:rPr sz="840" b="0">
                          <a:latin typeface="Calibri"/>
                        </a:rPr>
                        <a:t>2.3</a:t>
                      </a:r>
                    </a:p>
                  </a:txBody>
                  <a:tcPr marL="36576" marR="36576" marT="18288" marB="18288">
                    <a:solidFill>
                      <a:srgbClr val="FAFCFF"/>
                    </a:solidFill>
                  </a:tcPr>
                </a:tc>
                <a:tc>
                  <a:txBody>
                    <a:bodyPr/>
                    <a:lstStyle/>
                    <a:p>
                      <a:pPr algn="ctr"/>
                      <a:r>
                        <a:rPr sz="840" b="0">
                          <a:latin typeface="Calibri"/>
                        </a:rPr>
                        <a:t>3.2</a:t>
                      </a:r>
                    </a:p>
                  </a:txBody>
                  <a:tcPr marL="36576" marR="36576" marT="18288" marB="18288">
                    <a:solidFill>
                      <a:srgbClr val="FAFCFF"/>
                    </a:solidFill>
                  </a:tcPr>
                </a:tc>
                <a:extLst>
                  <a:ext uri="{0D108BD9-81ED-4DB2-BD59-A6C34878D82A}">
                    <a16:rowId xmlns:a16="http://schemas.microsoft.com/office/drawing/2014/main" val="10004"/>
                  </a:ext>
                </a:extLst>
              </a:tr>
              <a:tr h="373380">
                <a:tc>
                  <a:txBody>
                    <a:bodyPr/>
                    <a:lstStyle/>
                    <a:p>
                      <a:pPr algn="ctr"/>
                      <a:r>
                        <a:rPr sz="840" b="0">
                          <a:latin typeface="Calibri"/>
                        </a:rPr>
                        <a:t>gen-local</a:t>
                      </a:r>
                    </a:p>
                  </a:txBody>
                  <a:tcPr marL="36576" marR="36576" marT="18288" marB="18288">
                    <a:solidFill>
                      <a:srgbClr val="FAFCFF"/>
                    </a:solidFill>
                  </a:tcPr>
                </a:tc>
                <a:tc>
                  <a:txBody>
                    <a:bodyPr/>
                    <a:lstStyle/>
                    <a:p>
                      <a:pPr algn="ctr"/>
                      <a:r>
                        <a:rPr sz="840" b="0">
                          <a:latin typeface="Calibri"/>
                        </a:rPr>
                        <a:t>5.6</a:t>
                      </a:r>
                    </a:p>
                  </a:txBody>
                  <a:tcPr marL="36576" marR="36576" marT="18288" marB="18288">
                    <a:solidFill>
                      <a:srgbClr val="FAFCFF"/>
                    </a:solidFill>
                  </a:tcPr>
                </a:tc>
                <a:tc>
                  <a:txBody>
                    <a:bodyPr/>
                    <a:lstStyle/>
                    <a:p>
                      <a:pPr algn="ctr"/>
                      <a:r>
                        <a:rPr sz="840" b="0">
                          <a:latin typeface="Calibri"/>
                        </a:rPr>
                        <a:t>2.9</a:t>
                      </a:r>
                    </a:p>
                  </a:txBody>
                  <a:tcPr marL="36576" marR="36576" marT="18288" marB="18288">
                    <a:solidFill>
                      <a:srgbClr val="FAFCFF"/>
                    </a:solidFill>
                  </a:tcPr>
                </a:tc>
                <a:tc>
                  <a:txBody>
                    <a:bodyPr/>
                    <a:lstStyle/>
                    <a:p>
                      <a:pPr algn="ctr"/>
                      <a:r>
                        <a:rPr sz="840" b="0" dirty="0">
                          <a:latin typeface="Calibri"/>
                        </a:rPr>
                        <a:t>3.9</a:t>
                      </a:r>
                    </a:p>
                  </a:txBody>
                  <a:tcPr marL="36576" marR="36576" marT="18288" marB="18288">
                    <a:solidFill>
                      <a:srgbClr val="FAFCFF"/>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6644249" y="4939831"/>
            <a:ext cx="4343400" cy="685800"/>
          </a:xfrm>
          <a:prstGeom prst="rect">
            <a:avLst/>
          </a:prstGeom>
          <a:noFill/>
        </p:spPr>
        <p:txBody>
          <a:bodyPr wrap="none">
            <a:spAutoFit/>
          </a:bodyPr>
          <a:lstStyle/>
          <a:p>
            <a:r>
              <a:rPr sz="1050" b="0" dirty="0" err="1">
                <a:latin typeface="Calibri"/>
              </a:rPr>
              <a:t>Kết</a:t>
            </a:r>
            <a:r>
              <a:rPr sz="1050" b="0" dirty="0">
                <a:latin typeface="Calibri"/>
              </a:rPr>
              <a:t> </a:t>
            </a:r>
            <a:r>
              <a:rPr sz="1050" b="0" dirty="0" err="1">
                <a:latin typeface="Calibri"/>
              </a:rPr>
              <a:t>luận</a:t>
            </a:r>
            <a:r>
              <a:rPr sz="1050" b="0" dirty="0">
                <a:latin typeface="Calibri"/>
              </a:rPr>
              <a:t>: donor </a:t>
            </a:r>
            <a:r>
              <a:rPr sz="1050" b="0" dirty="0" err="1">
                <a:latin typeface="Calibri"/>
              </a:rPr>
              <a:t>thật</a:t>
            </a:r>
            <a:r>
              <a:rPr sz="1050" b="0" dirty="0">
                <a:latin typeface="Calibri"/>
              </a:rPr>
              <a:t> </a:t>
            </a:r>
            <a:r>
              <a:rPr sz="1050" b="0" dirty="0" err="1">
                <a:latin typeface="Calibri"/>
              </a:rPr>
              <a:t>gần</a:t>
            </a:r>
            <a:r>
              <a:rPr sz="1050" b="0" dirty="0">
                <a:latin typeface="Calibri"/>
              </a:rPr>
              <a:t> </a:t>
            </a:r>
            <a:r>
              <a:rPr sz="1050" b="0" dirty="0" err="1">
                <a:latin typeface="Calibri"/>
              </a:rPr>
              <a:t>dữ</a:t>
            </a:r>
            <a:r>
              <a:rPr sz="1050" b="0" dirty="0">
                <a:latin typeface="Calibri"/>
              </a:rPr>
              <a:t> </a:t>
            </a:r>
            <a:r>
              <a:rPr sz="1050" b="0" dirty="0" err="1">
                <a:latin typeface="Calibri"/>
              </a:rPr>
              <a:t>liệu</a:t>
            </a:r>
            <a:r>
              <a:rPr sz="1050" b="0" dirty="0">
                <a:latin typeface="Calibri"/>
              </a:rPr>
              <a:t> </a:t>
            </a:r>
            <a:r>
              <a:rPr sz="1050" b="0" dirty="0" err="1">
                <a:latin typeface="Calibri"/>
              </a:rPr>
              <a:t>hơn</a:t>
            </a:r>
            <a:r>
              <a:rPr sz="1050" b="0" dirty="0">
                <a:latin typeface="Calibri"/>
              </a:rPr>
              <a:t> mean-fill ở </a:t>
            </a:r>
            <a:r>
              <a:rPr sz="1050" b="0" dirty="0" err="1">
                <a:latin typeface="Calibri"/>
              </a:rPr>
              <a:t>cả</a:t>
            </a:r>
            <a:r>
              <a:rPr sz="1050" b="0" dirty="0">
                <a:latin typeface="Calibri"/>
              </a:rPr>
              <a:t> 3 </a:t>
            </a:r>
            <a:r>
              <a:rPr sz="1050" b="0" dirty="0" err="1">
                <a:latin typeface="Calibri"/>
              </a:rPr>
              <a:t>thị</a:t>
            </a:r>
            <a:r>
              <a:rPr sz="1050" b="0" dirty="0">
                <a:latin typeface="Calibri"/>
              </a:rPr>
              <a:t> </a:t>
            </a:r>
            <a:r>
              <a:rPr sz="1050" b="0" dirty="0" err="1">
                <a:latin typeface="Calibri"/>
              </a:rPr>
              <a:t>trường</a:t>
            </a:r>
            <a:r>
              <a:rPr sz="1050" b="0" dirty="0">
                <a:latin typeface="Calibri"/>
              </a:rPr>
              <a:t>;</a:t>
            </a:r>
          </a:p>
          <a:p>
            <a:r>
              <a:rPr sz="1050" b="0" dirty="0">
                <a:latin typeface="Calibri"/>
              </a:rPr>
              <a:t>gen-local </a:t>
            </a:r>
            <a:r>
              <a:rPr sz="1050" b="0" dirty="0" err="1">
                <a:latin typeface="Calibri"/>
              </a:rPr>
              <a:t>là</a:t>
            </a:r>
            <a:r>
              <a:rPr sz="1050" b="0" dirty="0">
                <a:latin typeface="Calibri"/>
              </a:rPr>
              <a:t> baseline </a:t>
            </a:r>
            <a:r>
              <a:rPr sz="1050" b="0" dirty="0" err="1">
                <a:latin typeface="Calibri"/>
              </a:rPr>
              <a:t>sinh</a:t>
            </a:r>
            <a:r>
              <a:rPr sz="1050" b="0" dirty="0">
                <a:latin typeface="Calibri"/>
              </a:rPr>
              <a:t>, </a:t>
            </a:r>
            <a:r>
              <a:rPr sz="1050" b="0" dirty="0" err="1">
                <a:latin typeface="Calibri"/>
              </a:rPr>
              <a:t>bám</a:t>
            </a:r>
            <a:r>
              <a:rPr sz="1050" b="0" dirty="0">
                <a:latin typeface="Calibri"/>
              </a:rPr>
              <a:t> </a:t>
            </a:r>
            <a:r>
              <a:rPr sz="1050" b="0" dirty="0" err="1">
                <a:latin typeface="Calibri"/>
              </a:rPr>
              <a:t>dữ</a:t>
            </a:r>
            <a:r>
              <a:rPr sz="1050" b="0" dirty="0">
                <a:latin typeface="Calibri"/>
              </a:rPr>
              <a:t> </a:t>
            </a:r>
            <a:r>
              <a:rPr sz="1050" b="0" dirty="0" err="1">
                <a:latin typeface="Calibri"/>
              </a:rPr>
              <a:t>liệu</a:t>
            </a:r>
            <a:r>
              <a:rPr sz="1050" b="0" dirty="0">
                <a:latin typeface="Calibri"/>
              </a:rPr>
              <a:t> </a:t>
            </a:r>
            <a:r>
              <a:rPr sz="1050" b="0" dirty="0" err="1">
                <a:latin typeface="Calibri"/>
              </a:rPr>
              <a:t>kém</a:t>
            </a:r>
            <a:r>
              <a:rPr sz="1050" b="0" dirty="0">
                <a:latin typeface="Calibri"/>
              </a:rPr>
              <a:t> </a:t>
            </a:r>
            <a:r>
              <a:rPr sz="1050" b="0" dirty="0" err="1">
                <a:latin typeface="Calibri"/>
              </a:rPr>
              <a:t>ổn</a:t>
            </a:r>
            <a:r>
              <a:rPr sz="1050" b="0" dirty="0">
                <a:latin typeface="Calibri"/>
              </a:rPr>
              <a:t> </a:t>
            </a:r>
            <a:r>
              <a:rPr sz="1050" b="0" dirty="0" err="1">
                <a:latin typeface="Calibri"/>
              </a:rPr>
              <a:t>định</a:t>
            </a:r>
            <a:r>
              <a:rPr sz="1050" b="0" dirty="0">
                <a:latin typeface="Calibri"/>
              </a:rPr>
              <a:t> </a:t>
            </a:r>
            <a:r>
              <a:rPr sz="1050" b="0" dirty="0" err="1">
                <a:latin typeface="Calibri"/>
              </a:rPr>
              <a:t>hơn</a:t>
            </a:r>
            <a:r>
              <a:rPr sz="1050" b="0" dirty="0">
                <a:latin typeface="Calibri"/>
              </a:rPr>
              <a:t> donor.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sz="2500" b="1">
                <a:latin typeface="Cambria"/>
              </a:rPr>
              <a:t>Actionability: đo đủ 3 thị trường</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sz="1300" b="0">
                <a:latin typeface="Calibri"/>
              </a:rPr>
              <a:t>Consensus, SHAP và TreeSHAP sau khi thay feature</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sz="900" b="0">
                <a:latin typeface="Calibri"/>
              </a:rPr>
              <a:t>16</a:t>
            </a:r>
            <a:endParaRPr lang="en-US" sz="900" dirty="0"/>
          </a:p>
        </p:txBody>
      </p:sp>
      <p:sp>
        <p:nvSpPr>
          <p:cNvPr id="6" name="Shape 3"/>
          <p:cNvSpPr/>
          <p:nvPr/>
        </p:nvSpPr>
        <p:spPr>
          <a:xfrm>
            <a:off x="548640" y="1874520"/>
            <a:ext cx="5394960" cy="4114800"/>
          </a:xfrm>
          <a:prstGeom prst="roundRect">
            <a:avLst>
              <a:gd name="adj" fmla="val 1778"/>
            </a:avLst>
          </a:prstGeom>
          <a:solidFill>
            <a:srgbClr val="EEF2FB"/>
          </a:solidFill>
          <a:ln w="12700">
            <a:solidFill>
              <a:srgbClr val="2E4A9E"/>
            </a:solidFill>
            <a:prstDash val="solid"/>
          </a:ln>
        </p:spPr>
        <p:txBody>
          <a:bodyPr/>
          <a:lstStyle/>
          <a:p>
            <a:endParaRPr/>
          </a:p>
        </p:txBody>
      </p:sp>
      <p:sp>
        <p:nvSpPr>
          <p:cNvPr id="7" name="Text 4"/>
          <p:cNvSpPr/>
          <p:nvPr/>
        </p:nvSpPr>
        <p:spPr>
          <a:xfrm>
            <a:off x="777240" y="2011680"/>
            <a:ext cx="4937760" cy="365760"/>
          </a:xfrm>
          <a:prstGeom prst="rect">
            <a:avLst/>
          </a:prstGeom>
          <a:noFill/>
          <a:ln/>
        </p:spPr>
        <p:txBody>
          <a:bodyPr wrap="square" rtlCol="0" anchor="ctr"/>
          <a:lstStyle/>
          <a:p>
            <a:pPr marL="0" indent="0">
              <a:buNone/>
            </a:pPr>
            <a:r>
              <a:rPr sz="1600" b="1">
                <a:latin typeface="Calibri"/>
              </a:rPr>
              <a:t>Bảng actionability consensus (%)</a:t>
            </a:r>
            <a:endParaRPr lang="en-US" sz="1600" dirty="0"/>
          </a:p>
        </p:txBody>
      </p:sp>
      <p:sp>
        <p:nvSpPr>
          <p:cNvPr id="8" name="Text 5"/>
          <p:cNvSpPr/>
          <p:nvPr/>
        </p:nvSpPr>
        <p:spPr>
          <a:xfrm>
            <a:off x="777240" y="2423160"/>
            <a:ext cx="4937760" cy="3474720"/>
          </a:xfrm>
          <a:prstGeom prst="rect">
            <a:avLst/>
          </a:prstGeom>
          <a:noFill/>
          <a:ln/>
        </p:spPr>
        <p:txBody>
          <a:bodyPr wrap="square" rtlCol="0" anchor="t"/>
          <a:lstStyle/>
          <a:p>
            <a:pPr marL="0" indent="0">
              <a:spcAft>
                <a:spcPts val="1100"/>
              </a:spcAft>
              <a:buNone/>
            </a:pPr>
            <a:endParaRPr lang="en-US" sz="1300" dirty="0"/>
          </a:p>
        </p:txBody>
      </p:sp>
      <p:sp>
        <p:nvSpPr>
          <p:cNvPr id="9" name="Shape 6"/>
          <p:cNvSpPr/>
          <p:nvPr/>
        </p:nvSpPr>
        <p:spPr>
          <a:xfrm>
            <a:off x="6217920" y="1874520"/>
            <a:ext cx="5394960" cy="4114800"/>
          </a:xfrm>
          <a:prstGeom prst="roundRect">
            <a:avLst>
              <a:gd name="adj" fmla="val 1778"/>
            </a:avLst>
          </a:prstGeom>
          <a:solidFill>
            <a:srgbClr val="F5F7FC"/>
          </a:solidFill>
          <a:ln/>
        </p:spPr>
        <p:txBody>
          <a:bodyPr/>
          <a:lstStyle/>
          <a:p>
            <a:endParaRPr/>
          </a:p>
        </p:txBody>
      </p:sp>
      <p:sp>
        <p:nvSpPr>
          <p:cNvPr id="10" name="Text 7"/>
          <p:cNvSpPr/>
          <p:nvPr/>
        </p:nvSpPr>
        <p:spPr>
          <a:xfrm>
            <a:off x="6446520" y="2011680"/>
            <a:ext cx="4937760" cy="365760"/>
          </a:xfrm>
          <a:prstGeom prst="rect">
            <a:avLst/>
          </a:prstGeom>
          <a:noFill/>
          <a:ln/>
        </p:spPr>
        <p:txBody>
          <a:bodyPr wrap="square" rtlCol="0" anchor="ctr"/>
          <a:lstStyle/>
          <a:p>
            <a:pPr marL="0" indent="0">
              <a:buNone/>
            </a:pPr>
            <a:r>
              <a:rPr sz="1600" b="1">
                <a:latin typeface="Calibri"/>
              </a:rPr>
              <a:t>Hình cập nhật</a:t>
            </a:r>
            <a:endParaRPr lang="en-US" sz="1600" dirty="0"/>
          </a:p>
        </p:txBody>
      </p:sp>
      <p:sp>
        <p:nvSpPr>
          <p:cNvPr id="11" name="Text 8"/>
          <p:cNvSpPr/>
          <p:nvPr/>
        </p:nvSpPr>
        <p:spPr>
          <a:xfrm>
            <a:off x="6446520" y="2423160"/>
            <a:ext cx="4937760" cy="3474720"/>
          </a:xfrm>
          <a:prstGeom prst="rect">
            <a:avLst/>
          </a:prstGeom>
          <a:noFill/>
          <a:ln/>
        </p:spPr>
        <p:txBody>
          <a:bodyPr wrap="square" rtlCol="0" anchor="t"/>
          <a:lstStyle/>
          <a:p>
            <a:pPr marL="0" indent="0">
              <a:spcAft>
                <a:spcPts val="1100"/>
              </a:spcAft>
              <a:buNone/>
            </a:pPr>
            <a:endParaRPr lang="en-US" sz="1250" dirty="0"/>
          </a:p>
        </p:txBody>
      </p:sp>
      <p:graphicFrame>
        <p:nvGraphicFramePr>
          <p:cNvPr id="12" name="Table 11"/>
          <p:cNvGraphicFramePr>
            <a:graphicFrameLocks noGrp="1"/>
          </p:cNvGraphicFramePr>
          <p:nvPr/>
        </p:nvGraphicFramePr>
        <p:xfrm>
          <a:off x="804672" y="2331720"/>
          <a:ext cx="4498848" cy="1901952"/>
        </p:xfrm>
        <a:graphic>
          <a:graphicData uri="http://schemas.openxmlformats.org/drawingml/2006/table">
            <a:tbl>
              <a:tblPr firstRow="1" bandRow="1">
                <a:tableStyleId>{5C22544A-7EE6-4342-B048-85BDC9FD1C3A}</a:tableStyleId>
              </a:tblPr>
              <a:tblGrid>
                <a:gridCol w="899769">
                  <a:extLst>
                    <a:ext uri="{9D8B030D-6E8A-4147-A177-3AD203B41FA5}">
                      <a16:colId xmlns:a16="http://schemas.microsoft.com/office/drawing/2014/main" val="20000"/>
                    </a:ext>
                  </a:extLst>
                </a:gridCol>
                <a:gridCol w="899769">
                  <a:extLst>
                    <a:ext uri="{9D8B030D-6E8A-4147-A177-3AD203B41FA5}">
                      <a16:colId xmlns:a16="http://schemas.microsoft.com/office/drawing/2014/main" val="20001"/>
                    </a:ext>
                  </a:extLst>
                </a:gridCol>
                <a:gridCol w="899769">
                  <a:extLst>
                    <a:ext uri="{9D8B030D-6E8A-4147-A177-3AD203B41FA5}">
                      <a16:colId xmlns:a16="http://schemas.microsoft.com/office/drawing/2014/main" val="20002"/>
                    </a:ext>
                  </a:extLst>
                </a:gridCol>
                <a:gridCol w="899769">
                  <a:extLst>
                    <a:ext uri="{9D8B030D-6E8A-4147-A177-3AD203B41FA5}">
                      <a16:colId xmlns:a16="http://schemas.microsoft.com/office/drawing/2014/main" val="20003"/>
                    </a:ext>
                  </a:extLst>
                </a:gridCol>
                <a:gridCol w="899772">
                  <a:extLst>
                    <a:ext uri="{9D8B030D-6E8A-4147-A177-3AD203B41FA5}">
                      <a16:colId xmlns:a16="http://schemas.microsoft.com/office/drawing/2014/main" val="20004"/>
                    </a:ext>
                  </a:extLst>
                </a:gridCol>
              </a:tblGrid>
              <a:tr h="475488">
                <a:tc>
                  <a:txBody>
                    <a:bodyPr/>
                    <a:lstStyle/>
                    <a:p>
                      <a:pPr algn="ctr"/>
                      <a:r>
                        <a:rPr sz="850" b="1">
                          <a:latin typeface="Calibri"/>
                        </a:rPr>
                        <a:t>Thị trường</a:t>
                      </a:r>
                    </a:p>
                  </a:txBody>
                  <a:tcPr marL="36576" marR="36576" marT="18288" marB="18288">
                    <a:solidFill>
                      <a:srgbClr val="DAE6F2"/>
                    </a:solidFill>
                  </a:tcPr>
                </a:tc>
                <a:tc>
                  <a:txBody>
                    <a:bodyPr/>
                    <a:lstStyle/>
                    <a:p>
                      <a:pPr algn="ctr"/>
                      <a:r>
                        <a:rPr sz="850" b="1">
                          <a:latin typeface="Calibri"/>
                        </a:rPr>
                        <a:t>1D</a:t>
                      </a:r>
                    </a:p>
                  </a:txBody>
                  <a:tcPr marL="36576" marR="36576" marT="18288" marB="18288">
                    <a:solidFill>
                      <a:srgbClr val="DAE6F2"/>
                    </a:solidFill>
                  </a:tcPr>
                </a:tc>
                <a:tc>
                  <a:txBody>
                    <a:bodyPr/>
                    <a:lstStyle/>
                    <a:p>
                      <a:pPr algn="ctr"/>
                      <a:r>
                        <a:rPr sz="850" b="1">
                          <a:latin typeface="Calibri"/>
                        </a:rPr>
                        <a:t>3D</a:t>
                      </a:r>
                    </a:p>
                  </a:txBody>
                  <a:tcPr marL="36576" marR="36576" marT="18288" marB="18288">
                    <a:solidFill>
                      <a:srgbClr val="DAE6F2"/>
                    </a:solidFill>
                  </a:tcPr>
                </a:tc>
                <a:tc>
                  <a:txBody>
                    <a:bodyPr/>
                    <a:lstStyle/>
                    <a:p>
                      <a:pPr algn="ctr"/>
                      <a:r>
                        <a:rPr sz="850" b="1">
                          <a:latin typeface="Calibri"/>
                        </a:rPr>
                        <a:t>5D</a:t>
                      </a:r>
                    </a:p>
                  </a:txBody>
                  <a:tcPr marL="36576" marR="36576" marT="18288" marB="18288">
                    <a:solidFill>
                      <a:srgbClr val="DAE6F2"/>
                    </a:solidFill>
                  </a:tcPr>
                </a:tc>
                <a:tc>
                  <a:txBody>
                    <a:bodyPr/>
                    <a:lstStyle/>
                    <a:p>
                      <a:pPr algn="ctr"/>
                      <a:r>
                        <a:rPr sz="850" b="1">
                          <a:latin typeface="Calibri"/>
                        </a:rPr>
                        <a:t>Sinh</a:t>
                      </a:r>
                    </a:p>
                  </a:txBody>
                  <a:tcPr marL="36576" marR="36576" marT="18288" marB="18288">
                    <a:solidFill>
                      <a:srgbClr val="DAE6F2"/>
                    </a:solidFill>
                  </a:tcPr>
                </a:tc>
                <a:extLst>
                  <a:ext uri="{0D108BD9-81ED-4DB2-BD59-A6C34878D82A}">
                    <a16:rowId xmlns:a16="http://schemas.microsoft.com/office/drawing/2014/main" val="10000"/>
                  </a:ext>
                </a:extLst>
              </a:tr>
              <a:tr h="475488">
                <a:tc>
                  <a:txBody>
                    <a:bodyPr/>
                    <a:lstStyle/>
                    <a:p>
                      <a:pPr algn="ctr"/>
                      <a:r>
                        <a:rPr sz="850" b="0">
                          <a:latin typeface="Calibri"/>
                        </a:rPr>
                        <a:t>King County</a:t>
                      </a:r>
                    </a:p>
                  </a:txBody>
                  <a:tcPr marL="36576" marR="36576" marT="18288" marB="18288">
                    <a:solidFill>
                      <a:srgbClr val="FAFCFF"/>
                    </a:solidFill>
                  </a:tcPr>
                </a:tc>
                <a:tc>
                  <a:txBody>
                    <a:bodyPr/>
                    <a:lstStyle/>
                    <a:p>
                      <a:pPr algn="ctr"/>
                      <a:r>
                        <a:rPr sz="850" b="0">
                          <a:latin typeface="Calibri"/>
                        </a:rPr>
                        <a:t>71.7</a:t>
                      </a:r>
                    </a:p>
                  </a:txBody>
                  <a:tcPr marL="36576" marR="36576" marT="18288" marB="18288">
                    <a:solidFill>
                      <a:srgbClr val="FAFCFF"/>
                    </a:solidFill>
                  </a:tcPr>
                </a:tc>
                <a:tc>
                  <a:txBody>
                    <a:bodyPr/>
                    <a:lstStyle/>
                    <a:p>
                      <a:pPr algn="ctr"/>
                      <a:r>
                        <a:rPr sz="850" b="0">
                          <a:latin typeface="Calibri"/>
                        </a:rPr>
                        <a:t>66.7</a:t>
                      </a:r>
                    </a:p>
                  </a:txBody>
                  <a:tcPr marL="36576" marR="36576" marT="18288" marB="18288">
                    <a:solidFill>
                      <a:srgbClr val="FAFCFF"/>
                    </a:solidFill>
                  </a:tcPr>
                </a:tc>
                <a:tc>
                  <a:txBody>
                    <a:bodyPr/>
                    <a:lstStyle/>
                    <a:p>
                      <a:pPr algn="ctr"/>
                      <a:r>
                        <a:rPr sz="850" b="0">
                          <a:latin typeface="Calibri"/>
                        </a:rPr>
                        <a:t>70.0</a:t>
                      </a:r>
                    </a:p>
                  </a:txBody>
                  <a:tcPr marL="36576" marR="36576" marT="18288" marB="18288">
                    <a:solidFill>
                      <a:srgbClr val="FAFCFF"/>
                    </a:solidFill>
                  </a:tcPr>
                </a:tc>
                <a:tc>
                  <a:txBody>
                    <a:bodyPr/>
                    <a:lstStyle/>
                    <a:p>
                      <a:pPr algn="ctr"/>
                      <a:r>
                        <a:rPr sz="850" b="0">
                          <a:latin typeface="Calibri"/>
                        </a:rPr>
                        <a:t>80.0</a:t>
                      </a:r>
                    </a:p>
                  </a:txBody>
                  <a:tcPr marL="36576" marR="36576" marT="18288" marB="18288">
                    <a:solidFill>
                      <a:srgbClr val="FAFCFF"/>
                    </a:solidFill>
                  </a:tcPr>
                </a:tc>
                <a:extLst>
                  <a:ext uri="{0D108BD9-81ED-4DB2-BD59-A6C34878D82A}">
                    <a16:rowId xmlns:a16="http://schemas.microsoft.com/office/drawing/2014/main" val="10001"/>
                  </a:ext>
                </a:extLst>
              </a:tr>
              <a:tr h="475488">
                <a:tc>
                  <a:txBody>
                    <a:bodyPr/>
                    <a:lstStyle/>
                    <a:p>
                      <a:pPr algn="ctr"/>
                      <a:r>
                        <a:rPr sz="850" b="0">
                          <a:latin typeface="Calibri"/>
                        </a:rPr>
                        <a:t>California</a:t>
                      </a:r>
                    </a:p>
                  </a:txBody>
                  <a:tcPr marL="36576" marR="36576" marT="18288" marB="18288">
                    <a:solidFill>
                      <a:srgbClr val="FAFCFF"/>
                    </a:solidFill>
                  </a:tcPr>
                </a:tc>
                <a:tc>
                  <a:txBody>
                    <a:bodyPr/>
                    <a:lstStyle/>
                    <a:p>
                      <a:pPr algn="ctr"/>
                      <a:r>
                        <a:rPr sz="850" b="0">
                          <a:latin typeface="Calibri"/>
                        </a:rPr>
                        <a:t>77.5</a:t>
                      </a:r>
                    </a:p>
                  </a:txBody>
                  <a:tcPr marL="36576" marR="36576" marT="18288" marB="18288">
                    <a:solidFill>
                      <a:srgbClr val="FAFCFF"/>
                    </a:solidFill>
                  </a:tcPr>
                </a:tc>
                <a:tc>
                  <a:txBody>
                    <a:bodyPr/>
                    <a:lstStyle/>
                    <a:p>
                      <a:pPr algn="ctr"/>
                      <a:r>
                        <a:rPr sz="850" b="0">
                          <a:latin typeface="Calibri"/>
                        </a:rPr>
                        <a:t>85.0</a:t>
                      </a:r>
                    </a:p>
                  </a:txBody>
                  <a:tcPr marL="36576" marR="36576" marT="18288" marB="18288">
                    <a:solidFill>
                      <a:srgbClr val="FAFCFF"/>
                    </a:solidFill>
                  </a:tcPr>
                </a:tc>
                <a:tc>
                  <a:txBody>
                    <a:bodyPr/>
                    <a:lstStyle/>
                    <a:p>
                      <a:pPr algn="ctr"/>
                      <a:r>
                        <a:rPr sz="850" b="0">
                          <a:latin typeface="Calibri"/>
                        </a:rPr>
                        <a:t>82.5</a:t>
                      </a:r>
                    </a:p>
                  </a:txBody>
                  <a:tcPr marL="36576" marR="36576" marT="18288" marB="18288">
                    <a:solidFill>
                      <a:srgbClr val="FAFCFF"/>
                    </a:solidFill>
                  </a:tcPr>
                </a:tc>
                <a:tc>
                  <a:txBody>
                    <a:bodyPr/>
                    <a:lstStyle/>
                    <a:p>
                      <a:pPr algn="ctr"/>
                      <a:r>
                        <a:rPr sz="850" b="0">
                          <a:latin typeface="Calibri"/>
                        </a:rPr>
                        <a:t>67.5</a:t>
                      </a:r>
                    </a:p>
                  </a:txBody>
                  <a:tcPr marL="36576" marR="36576" marT="18288" marB="18288">
                    <a:solidFill>
                      <a:srgbClr val="FAFCFF"/>
                    </a:solidFill>
                  </a:tcPr>
                </a:tc>
                <a:extLst>
                  <a:ext uri="{0D108BD9-81ED-4DB2-BD59-A6C34878D82A}">
                    <a16:rowId xmlns:a16="http://schemas.microsoft.com/office/drawing/2014/main" val="10002"/>
                  </a:ext>
                </a:extLst>
              </a:tr>
              <a:tr h="475488">
                <a:tc>
                  <a:txBody>
                    <a:bodyPr/>
                    <a:lstStyle/>
                    <a:p>
                      <a:pPr algn="ctr"/>
                      <a:r>
                        <a:rPr sz="850" b="0">
                          <a:latin typeface="Calibri"/>
                        </a:rPr>
                        <a:t>Ames</a:t>
                      </a:r>
                    </a:p>
                  </a:txBody>
                  <a:tcPr marL="36576" marR="36576" marT="18288" marB="18288">
                    <a:solidFill>
                      <a:srgbClr val="FAFCFF"/>
                    </a:solidFill>
                  </a:tcPr>
                </a:tc>
                <a:tc>
                  <a:txBody>
                    <a:bodyPr/>
                    <a:lstStyle/>
                    <a:p>
                      <a:pPr algn="ctr"/>
                      <a:r>
                        <a:rPr sz="850" b="0">
                          <a:latin typeface="Calibri"/>
                        </a:rPr>
                        <a:t>71.8</a:t>
                      </a:r>
                    </a:p>
                  </a:txBody>
                  <a:tcPr marL="36576" marR="36576" marT="18288" marB="18288">
                    <a:solidFill>
                      <a:srgbClr val="FAFCFF"/>
                    </a:solidFill>
                  </a:tcPr>
                </a:tc>
                <a:tc>
                  <a:txBody>
                    <a:bodyPr/>
                    <a:lstStyle/>
                    <a:p>
                      <a:pPr algn="ctr"/>
                      <a:r>
                        <a:rPr sz="850" b="0">
                          <a:latin typeface="Calibri"/>
                        </a:rPr>
                        <a:t>65.0</a:t>
                      </a:r>
                    </a:p>
                  </a:txBody>
                  <a:tcPr marL="36576" marR="36576" marT="18288" marB="18288">
                    <a:solidFill>
                      <a:srgbClr val="FAFCFF"/>
                    </a:solidFill>
                  </a:tcPr>
                </a:tc>
                <a:tc>
                  <a:txBody>
                    <a:bodyPr/>
                    <a:lstStyle/>
                    <a:p>
                      <a:pPr algn="ctr"/>
                      <a:r>
                        <a:rPr sz="850" b="0">
                          <a:latin typeface="Calibri"/>
                        </a:rPr>
                        <a:t>80.0</a:t>
                      </a:r>
                    </a:p>
                  </a:txBody>
                  <a:tcPr marL="36576" marR="36576" marT="18288" marB="18288">
                    <a:solidFill>
                      <a:srgbClr val="FAFCFF"/>
                    </a:solidFill>
                  </a:tcPr>
                </a:tc>
                <a:tc>
                  <a:txBody>
                    <a:bodyPr/>
                    <a:lstStyle/>
                    <a:p>
                      <a:pPr algn="ctr"/>
                      <a:r>
                        <a:rPr sz="850" b="0">
                          <a:latin typeface="Calibri"/>
                        </a:rPr>
                        <a:t>67.5</a:t>
                      </a:r>
                    </a:p>
                  </a:txBody>
                  <a:tcPr marL="36576" marR="36576" marT="18288" marB="18288">
                    <a:solidFill>
                      <a:srgbClr val="FAFCFF"/>
                    </a:solidFill>
                  </a:tcPr>
                </a:tc>
                <a:extLst>
                  <a:ext uri="{0D108BD9-81ED-4DB2-BD59-A6C34878D82A}">
                    <a16:rowId xmlns:a16="http://schemas.microsoft.com/office/drawing/2014/main" val="10003"/>
                  </a:ext>
                </a:extLst>
              </a:tr>
            </a:tbl>
          </a:graphicData>
        </a:graphic>
      </p:graphicFrame>
      <p:sp>
        <p:nvSpPr>
          <p:cNvPr id="13" name="TextBox 12"/>
          <p:cNvSpPr txBox="1"/>
          <p:nvPr/>
        </p:nvSpPr>
        <p:spPr>
          <a:xfrm>
            <a:off x="850392" y="4453128"/>
            <a:ext cx="4343400" cy="1005840"/>
          </a:xfrm>
          <a:prstGeom prst="rect">
            <a:avLst/>
          </a:prstGeom>
          <a:noFill/>
        </p:spPr>
        <p:txBody>
          <a:bodyPr wrap="none">
            <a:spAutoFit/>
          </a:bodyPr>
          <a:lstStyle/>
          <a:p>
            <a:r>
              <a:rPr sz="1050" b="0">
                <a:latin typeface="Calibri"/>
              </a:rPr>
              <a:t>Đã đo trên King County, California, Ames.</a:t>
            </a:r>
          </a:p>
          <a:p>
            <a:r>
              <a:rPr sz="1050" b="0">
                <a:latin typeface="Calibri"/>
              </a:rPr>
              <a:t>5-donor mạnh ở Ames/California; gen-local hữu ích nhưng chưa ổn định.</a:t>
            </a:r>
          </a:p>
          <a:p>
            <a:r>
              <a:rPr sz="1050" b="0">
                <a:latin typeface="Calibri"/>
              </a:rPr>
              <a:t>TreeSHAP vẫn thấp hơn consensus/SHAP trên King County.</a:t>
            </a:r>
          </a:p>
        </p:txBody>
      </p:sp>
      <p:pic>
        <p:nvPicPr>
          <p:cNvPr id="14" name="Picture 13" descr="donor_actionability_summary.png"/>
          <p:cNvPicPr>
            <a:picLocks noChangeAspect="1"/>
          </p:cNvPicPr>
          <p:nvPr/>
        </p:nvPicPr>
        <p:blipFill>
          <a:blip r:embed="rId3"/>
          <a:stretch>
            <a:fillRect/>
          </a:stretch>
        </p:blipFill>
        <p:spPr>
          <a:xfrm>
            <a:off x="5833872" y="2029968"/>
            <a:ext cx="4773168" cy="309067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img/image1.png"/>
          <p:cNvPicPr>
            <a:picLocks noChangeAspect="1"/>
          </p:cNvPicPr>
          <p:nvPr/>
        </p:nvPicPr>
        <p:blipFill>
          <a:blip r:embed="rId3"/>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lang="en-US" sz="2600" b="1" dirty="0">
                <a:solidFill>
                  <a:srgbClr val="1A2A5E"/>
                </a:solidFill>
                <a:latin typeface="Cambria" pitchFamily="34" charset="0"/>
                <a:ea typeface="Cambria" pitchFamily="34" charset="-122"/>
                <a:cs typeface="Cambria" pitchFamily="34" charset="-120"/>
              </a:rPr>
              <a:t>Giao việc: Tài</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lang="en-US" sz="1300" i="1" dirty="0">
                <a:solidFill>
                  <a:srgbClr val="5A6472"/>
                </a:solidFill>
                <a:latin typeface="Calibri" pitchFamily="34" charset="0"/>
                <a:ea typeface="Calibri" pitchFamily="34" charset="-122"/>
                <a:cs typeface="Calibri" pitchFamily="34" charset="-120"/>
              </a:rPr>
              <a:t>Khảo sát tham số + đóng gói tái lập</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sz="900" b="0">
                <a:latin typeface="Calibri"/>
              </a:rPr>
              <a:t>17</a:t>
            </a:r>
            <a:endParaRPr lang="en-US" sz="900" dirty="0"/>
          </a:p>
        </p:txBody>
      </p:sp>
      <p:sp>
        <p:nvSpPr>
          <p:cNvPr id="6" name="Shape 3"/>
          <p:cNvSpPr/>
          <p:nvPr/>
        </p:nvSpPr>
        <p:spPr>
          <a:xfrm>
            <a:off x="548640" y="1874520"/>
            <a:ext cx="5394960" cy="4114800"/>
          </a:xfrm>
          <a:prstGeom prst="roundRect">
            <a:avLst>
              <a:gd name="adj" fmla="val 1778"/>
            </a:avLst>
          </a:prstGeom>
          <a:solidFill>
            <a:srgbClr val="EEF2FB"/>
          </a:solidFill>
          <a:ln w="12700">
            <a:solidFill>
              <a:srgbClr val="2E4A9E"/>
            </a:solidFill>
            <a:prstDash val="solid"/>
          </a:ln>
        </p:spPr>
      </p:sp>
      <p:sp>
        <p:nvSpPr>
          <p:cNvPr id="7" name="Text 4"/>
          <p:cNvSpPr/>
          <p:nvPr/>
        </p:nvSpPr>
        <p:spPr>
          <a:xfrm>
            <a:off x="777240" y="2011680"/>
            <a:ext cx="4937760" cy="365760"/>
          </a:xfrm>
          <a:prstGeom prst="rect">
            <a:avLst/>
          </a:prstGeom>
          <a:noFill/>
          <a:ln/>
        </p:spPr>
        <p:txBody>
          <a:bodyPr wrap="square" rtlCol="0" anchor="ctr"/>
          <a:lstStyle/>
          <a:p>
            <a:pPr marL="0" indent="0">
              <a:buNone/>
            </a:pPr>
            <a:r>
              <a:rPr lang="en-US" sz="1600" b="1" dirty="0">
                <a:solidFill>
                  <a:srgbClr val="1A2A5E"/>
                </a:solidFill>
                <a:latin typeface="Calibri" pitchFamily="34" charset="0"/>
                <a:ea typeface="Calibri" pitchFamily="34" charset="-122"/>
                <a:cs typeface="Calibri" pitchFamily="34" charset="-120"/>
              </a:rPr>
              <a:t>Việc cần làm</a:t>
            </a:r>
            <a:endParaRPr lang="en-US" sz="1600" dirty="0"/>
          </a:p>
        </p:txBody>
      </p:sp>
      <p:sp>
        <p:nvSpPr>
          <p:cNvPr id="8" name="Text 5"/>
          <p:cNvSpPr/>
          <p:nvPr/>
        </p:nvSpPr>
        <p:spPr>
          <a:xfrm>
            <a:off x="777240" y="2423160"/>
            <a:ext cx="4937760" cy="3474720"/>
          </a:xfrm>
          <a:prstGeom prst="rect">
            <a:avLst/>
          </a:prstGeom>
          <a:noFill/>
          <a:ln/>
        </p:spPr>
        <p:txBody>
          <a:bodyPr wrap="square" rtlCol="0" anchor="t"/>
          <a:lstStyle/>
          <a:p>
            <a:pPr marL="0" indent="0">
              <a:spcAft>
                <a:spcPts val="1100"/>
              </a:spcAft>
              <a:buNone/>
            </a:pPr>
            <a:r>
              <a:rPr lang="en-US" sz="1300" dirty="0">
                <a:solidFill>
                  <a:srgbClr val="1B1F2A"/>
                </a:solidFill>
                <a:latin typeface="Calibri" pitchFamily="34" charset="0"/>
                <a:ea typeface="Calibri" pitchFamily="34" charset="-122"/>
                <a:cs typeface="Calibri" pitchFamily="34" charset="-120"/>
              </a:rPr>
              <a:t>1. Thử đổi các tham số (số điểm, tỷ lệ che, kích thước nền) xem kết quả có đổi không.</a:t>
            </a:r>
            <a:endParaRPr lang="en-US" sz="1300" dirty="0"/>
          </a:p>
          <a:p>
            <a:pPr marL="0" indent="0">
              <a:spcAft>
                <a:spcPts val="1100"/>
              </a:spcAft>
              <a:buNone/>
            </a:pPr>
            <a:r>
              <a:rPr lang="en-US" sz="1300" dirty="0">
                <a:solidFill>
                  <a:srgbClr val="1B1F2A"/>
                </a:solidFill>
                <a:latin typeface="Calibri" pitchFamily="34" charset="0"/>
                <a:ea typeface="Calibri" pitchFamily="34" charset="-122"/>
                <a:cs typeface="Calibri" pitchFamily="34" charset="-120"/>
              </a:rPr>
              <a:t>2. Báo cáo độ nhạy (có khoảng tin cậy).</a:t>
            </a:r>
            <a:endParaRPr lang="en-US" sz="1300" dirty="0"/>
          </a:p>
          <a:p>
            <a:pPr marL="0" indent="0">
              <a:spcAft>
                <a:spcPts val="1100"/>
              </a:spcAft>
              <a:buNone/>
            </a:pPr>
            <a:r>
              <a:rPr lang="en-US" sz="1300" dirty="0">
                <a:solidFill>
                  <a:srgbClr val="1B1F2A"/>
                </a:solidFill>
                <a:latin typeface="Calibri" pitchFamily="34" charset="0"/>
                <a:ea typeface="Calibri" pitchFamily="34" charset="-122"/>
                <a:cs typeface="Calibri" pitchFamily="34" charset="-120"/>
              </a:rPr>
              <a:t>3. Nối với khái niệm nhân quả của giải thích.</a:t>
            </a:r>
            <a:endParaRPr lang="en-US" sz="1300" dirty="0"/>
          </a:p>
          <a:p>
            <a:pPr marL="0" indent="0">
              <a:spcAft>
                <a:spcPts val="1100"/>
              </a:spcAft>
              <a:buNone/>
            </a:pPr>
            <a:r>
              <a:rPr lang="en-US" sz="1300" dirty="0">
                <a:solidFill>
                  <a:srgbClr val="1B1F2A"/>
                </a:solidFill>
                <a:latin typeface="Calibri" pitchFamily="34" charset="0"/>
                <a:ea typeface="Calibri" pitchFamily="34" charset="-122"/>
                <a:cs typeface="Calibri" pitchFamily="34" charset="-120"/>
              </a:rPr>
              <a:t>4. Đóng gói code + README để người khác chạy lại.</a:t>
            </a:r>
            <a:endParaRPr lang="en-US" sz="1300" dirty="0"/>
          </a:p>
        </p:txBody>
      </p:sp>
      <p:sp>
        <p:nvSpPr>
          <p:cNvPr id="9" name="Shape 6"/>
          <p:cNvSpPr/>
          <p:nvPr/>
        </p:nvSpPr>
        <p:spPr>
          <a:xfrm>
            <a:off x="6217920" y="1874520"/>
            <a:ext cx="5394960" cy="4114800"/>
          </a:xfrm>
          <a:prstGeom prst="roundRect">
            <a:avLst>
              <a:gd name="adj" fmla="val 1778"/>
            </a:avLst>
          </a:prstGeom>
          <a:solidFill>
            <a:srgbClr val="F5F7FC"/>
          </a:solidFill>
          <a:ln/>
        </p:spPr>
      </p:sp>
      <p:sp>
        <p:nvSpPr>
          <p:cNvPr id="10" name="Text 7"/>
          <p:cNvSpPr/>
          <p:nvPr/>
        </p:nvSpPr>
        <p:spPr>
          <a:xfrm>
            <a:off x="6446520" y="2011680"/>
            <a:ext cx="4937760" cy="365760"/>
          </a:xfrm>
          <a:prstGeom prst="rect">
            <a:avLst/>
          </a:prstGeom>
          <a:noFill/>
          <a:ln/>
        </p:spPr>
        <p:txBody>
          <a:bodyPr wrap="square" rtlCol="0" anchor="ctr"/>
          <a:lstStyle/>
          <a:p>
            <a:pPr marL="0" indent="0">
              <a:buNone/>
            </a:pPr>
            <a:r>
              <a:rPr lang="en-US" sz="1600" b="1" dirty="0">
                <a:solidFill>
                  <a:srgbClr val="1A2A5E"/>
                </a:solidFill>
                <a:latin typeface="Calibri" pitchFamily="34" charset="0"/>
                <a:ea typeface="Calibri" pitchFamily="34" charset="-122"/>
                <a:cs typeface="Calibri" pitchFamily="34" charset="-120"/>
              </a:rPr>
              <a:t>Cách chạy số liệu</a:t>
            </a:r>
            <a:endParaRPr lang="en-US" sz="1600" dirty="0"/>
          </a:p>
        </p:txBody>
      </p:sp>
      <p:sp>
        <p:nvSpPr>
          <p:cNvPr id="11" name="Text 8"/>
          <p:cNvSpPr/>
          <p:nvPr/>
        </p:nvSpPr>
        <p:spPr>
          <a:xfrm>
            <a:off x="6446520" y="2423160"/>
            <a:ext cx="4937760" cy="3474720"/>
          </a:xfrm>
          <a:prstGeom prst="rect">
            <a:avLst/>
          </a:prstGeom>
          <a:noFill/>
          <a:ln/>
        </p:spPr>
        <p:txBody>
          <a:bodyPr wrap="square" rtlCol="0" anchor="t"/>
          <a:lstStyle/>
          <a:p>
            <a:pPr marL="0" indent="0">
              <a:spcAft>
                <a:spcPts val="1100"/>
              </a:spcAft>
              <a:buNone/>
            </a:pPr>
            <a:r>
              <a:rPr lang="en-US" sz="1250" dirty="0">
                <a:solidFill>
                  <a:srgbClr val="1B1F2A"/>
                </a:solidFill>
                <a:latin typeface="Calibri" pitchFamily="34" charset="0"/>
                <a:ea typeface="Calibri" pitchFamily="34" charset="-122"/>
                <a:cs typeface="Calibri" pitchFamily="34" charset="-120"/>
              </a:rPr>
              <a:t>• python extra_data/boot_extra.py → khoảng tin cậy.</a:t>
            </a:r>
            <a:endParaRPr lang="en-US" sz="1250" dirty="0"/>
          </a:p>
          <a:p>
            <a:pPr marL="0" indent="0">
              <a:spcAft>
                <a:spcPts val="1100"/>
              </a:spcAft>
              <a:buNone/>
            </a:pPr>
            <a:r>
              <a:rPr lang="en-US" sz="1250" dirty="0">
                <a:solidFill>
                  <a:srgbClr val="1B1F2A"/>
                </a:solidFill>
                <a:latin typeface="Calibri" pitchFamily="34" charset="0"/>
                <a:ea typeface="Calibri" pitchFamily="34" charset="-122"/>
                <a:cs typeface="Calibri" pitchFamily="34" charset="-120"/>
              </a:rPr>
              <a:t>• python proj/revision_kc.py → TreeSHAP blend-aware (9.7→6.6).</a:t>
            </a:r>
            <a:endParaRPr lang="en-US" sz="1250" dirty="0"/>
          </a:p>
          <a:p>
            <a:pPr marL="0" indent="0">
              <a:spcAft>
                <a:spcPts val="1100"/>
              </a:spcAft>
              <a:buNone/>
            </a:pPr>
            <a:r>
              <a:rPr lang="en-US" sz="1250" dirty="0">
                <a:solidFill>
                  <a:srgbClr val="1B1F2A"/>
                </a:solidFill>
                <a:latin typeface="Calibri" pitchFamily="34" charset="0"/>
                <a:ea typeface="Calibri" pitchFamily="34" charset="-122"/>
                <a:cs typeface="Calibri" pitchFamily="34" charset="-120"/>
              </a:rPr>
              <a:t>• Đổi tham số trong proj/onmanifold_audit.py rồi chạy lại.</a:t>
            </a:r>
            <a:endParaRPr lang="en-US" sz="1250" dirty="0"/>
          </a:p>
          <a:p>
            <a:pPr marL="0" indent="0">
              <a:spcAft>
                <a:spcPts val="1100"/>
              </a:spcAft>
              <a:buNone/>
            </a:pPr>
            <a:r>
              <a:rPr lang="en-US" sz="1250" dirty="0">
                <a:solidFill>
                  <a:srgbClr val="1B1F2A"/>
                </a:solidFill>
                <a:latin typeface="Calibri" pitchFamily="34" charset="0"/>
                <a:ea typeface="Calibri" pitchFamily="34" charset="-122"/>
                <a:cs typeface="Calibri" pitchFamily="34" charset="-120"/>
              </a:rPr>
              <a:t>• Gói README + scripts thành repo.</a:t>
            </a:r>
            <a:endParaRPr lang="en-US" sz="1250" dirty="0"/>
          </a:p>
          <a:p>
            <a:pPr marL="0" indent="0">
              <a:spcAft>
                <a:spcPts val="1100"/>
              </a:spcAft>
              <a:buNone/>
            </a:pPr>
            <a:r>
              <a:rPr lang="en-US" sz="1250" dirty="0">
                <a:solidFill>
                  <a:srgbClr val="1B1F2A"/>
                </a:solidFill>
                <a:latin typeface="Calibri" pitchFamily="34" charset="0"/>
                <a:ea typeface="Calibri" pitchFamily="34" charset="-122"/>
                <a:cs typeface="Calibri" pitchFamily="34" charset="-120"/>
              </a:rPr>
              <a:t>Mốc: tuần 2–6.</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sz="2500" b="1">
                <a:latin typeface="Cambria"/>
              </a:rPr>
              <a:t>Kết quả: độ nhạy tham số</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sz="1300" b="0">
                <a:latin typeface="Calibri"/>
              </a:rPr>
              <a:t>Độ nhạy tham số + bootstrap 95% CI</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sz="900" b="0">
                <a:latin typeface="Calibri"/>
              </a:rPr>
              <a:t>18</a:t>
            </a:r>
            <a:endParaRPr lang="en-US" sz="900" dirty="0"/>
          </a:p>
        </p:txBody>
      </p:sp>
      <p:sp>
        <p:nvSpPr>
          <p:cNvPr id="6" name="Shape 3"/>
          <p:cNvSpPr/>
          <p:nvPr/>
        </p:nvSpPr>
        <p:spPr>
          <a:xfrm>
            <a:off x="548640" y="1874520"/>
            <a:ext cx="5394960" cy="4114800"/>
          </a:xfrm>
          <a:prstGeom prst="roundRect">
            <a:avLst>
              <a:gd name="adj" fmla="val 1778"/>
            </a:avLst>
          </a:prstGeom>
          <a:solidFill>
            <a:srgbClr val="EEF2FB"/>
          </a:solidFill>
          <a:ln w="12700">
            <a:solidFill>
              <a:srgbClr val="2E4A9E"/>
            </a:solidFill>
            <a:prstDash val="solid"/>
          </a:ln>
        </p:spPr>
        <p:txBody>
          <a:bodyPr/>
          <a:lstStyle/>
          <a:p>
            <a:endParaRPr/>
          </a:p>
        </p:txBody>
      </p:sp>
      <p:sp>
        <p:nvSpPr>
          <p:cNvPr id="7" name="Text 4"/>
          <p:cNvSpPr/>
          <p:nvPr/>
        </p:nvSpPr>
        <p:spPr>
          <a:xfrm>
            <a:off x="621665" y="1901092"/>
            <a:ext cx="4937760" cy="365760"/>
          </a:xfrm>
          <a:prstGeom prst="rect">
            <a:avLst/>
          </a:prstGeom>
          <a:noFill/>
          <a:ln/>
        </p:spPr>
        <p:txBody>
          <a:bodyPr wrap="square" rtlCol="0" anchor="ctr"/>
          <a:lstStyle/>
          <a:p>
            <a:pPr marL="0" indent="0">
              <a:buNone/>
            </a:pPr>
            <a:r>
              <a:rPr sz="1600" b="1" dirty="0" err="1">
                <a:latin typeface="Calibri"/>
              </a:rPr>
              <a:t>Thiết</a:t>
            </a:r>
            <a:r>
              <a:rPr sz="1600" b="1" dirty="0">
                <a:latin typeface="Calibri"/>
              </a:rPr>
              <a:t> </a:t>
            </a:r>
            <a:r>
              <a:rPr sz="1600" b="1" dirty="0" err="1">
                <a:latin typeface="Calibri"/>
              </a:rPr>
              <a:t>kế</a:t>
            </a:r>
            <a:r>
              <a:rPr sz="1600" b="1" dirty="0">
                <a:latin typeface="Calibri"/>
              </a:rPr>
              <a:t> </a:t>
            </a:r>
            <a:r>
              <a:rPr sz="1600" b="1" dirty="0" err="1">
                <a:latin typeface="Calibri"/>
              </a:rPr>
              <a:t>kiểm</a:t>
            </a:r>
            <a:r>
              <a:rPr sz="1600" b="1" dirty="0">
                <a:latin typeface="Calibri"/>
              </a:rPr>
              <a:t> </a:t>
            </a:r>
            <a:r>
              <a:rPr sz="1600" b="1" dirty="0" err="1">
                <a:latin typeface="Calibri"/>
              </a:rPr>
              <a:t>tra</a:t>
            </a:r>
            <a:endParaRPr lang="en-US" sz="1600" dirty="0"/>
          </a:p>
        </p:txBody>
      </p:sp>
      <p:sp>
        <p:nvSpPr>
          <p:cNvPr id="8" name="Text 5"/>
          <p:cNvSpPr/>
          <p:nvPr/>
        </p:nvSpPr>
        <p:spPr>
          <a:xfrm>
            <a:off x="777240" y="2423160"/>
            <a:ext cx="4937760" cy="3474720"/>
          </a:xfrm>
          <a:prstGeom prst="rect">
            <a:avLst/>
          </a:prstGeom>
          <a:noFill/>
          <a:ln/>
        </p:spPr>
        <p:txBody>
          <a:bodyPr wrap="square" rtlCol="0" anchor="t"/>
          <a:lstStyle/>
          <a:p>
            <a:pPr marL="0" indent="0">
              <a:spcAft>
                <a:spcPts val="1100"/>
              </a:spcAft>
              <a:buNone/>
            </a:pPr>
            <a:r>
              <a:rPr sz="1200" b="0" dirty="0">
                <a:latin typeface="Calibri"/>
              </a:rPr>
              <a:t>1. </a:t>
            </a:r>
            <a:r>
              <a:rPr sz="1200" b="0" dirty="0" err="1">
                <a:latin typeface="Calibri"/>
              </a:rPr>
              <a:t>Số</a:t>
            </a:r>
            <a:r>
              <a:rPr sz="1200" b="0" dirty="0">
                <a:latin typeface="Calibri"/>
              </a:rPr>
              <a:t> </a:t>
            </a:r>
            <a:r>
              <a:rPr sz="1200" b="0" dirty="0" err="1">
                <a:latin typeface="Calibri"/>
              </a:rPr>
              <a:t>điểm</a:t>
            </a:r>
            <a:r>
              <a:rPr sz="1200" b="0" dirty="0">
                <a:latin typeface="Calibri"/>
              </a:rPr>
              <a:t> </a:t>
            </a:r>
            <a:r>
              <a:rPr sz="1200" b="0" dirty="0" err="1">
                <a:latin typeface="Calibri"/>
              </a:rPr>
              <a:t>giải</a:t>
            </a:r>
            <a:r>
              <a:rPr sz="1200" b="0" dirty="0">
                <a:latin typeface="Calibri"/>
              </a:rPr>
              <a:t> </a:t>
            </a:r>
            <a:r>
              <a:rPr sz="1200" b="0" dirty="0" err="1">
                <a:latin typeface="Calibri"/>
              </a:rPr>
              <a:t>thích</a:t>
            </a:r>
            <a:r>
              <a:rPr sz="1200" b="0" dirty="0">
                <a:latin typeface="Calibri"/>
              </a:rPr>
              <a:t>: 20 / 40 / 60.</a:t>
            </a:r>
            <a:endParaRPr lang="en-US" sz="1300" dirty="0"/>
          </a:p>
          <a:p>
            <a:pPr marL="0" indent="0">
              <a:spcAft>
                <a:spcPts val="1100"/>
              </a:spcAft>
              <a:buNone/>
            </a:pPr>
            <a:r>
              <a:rPr sz="1200" b="0" dirty="0">
                <a:latin typeface="Calibri"/>
              </a:rPr>
              <a:t>2. </a:t>
            </a:r>
            <a:r>
              <a:rPr sz="1200" b="0" dirty="0" err="1">
                <a:latin typeface="Calibri"/>
              </a:rPr>
              <a:t>Tỷ</a:t>
            </a:r>
            <a:r>
              <a:rPr sz="1200" b="0" dirty="0">
                <a:latin typeface="Calibri"/>
              </a:rPr>
              <a:t> </a:t>
            </a:r>
            <a:r>
              <a:rPr sz="1200" b="0" dirty="0" err="1">
                <a:latin typeface="Calibri"/>
              </a:rPr>
              <a:t>lệ</a:t>
            </a:r>
            <a:r>
              <a:rPr sz="1200" b="0" dirty="0">
                <a:latin typeface="Calibri"/>
              </a:rPr>
              <a:t> </a:t>
            </a:r>
            <a:r>
              <a:rPr sz="1200" b="0" dirty="0" err="1">
                <a:latin typeface="Calibri"/>
              </a:rPr>
              <a:t>che</a:t>
            </a:r>
            <a:r>
              <a:rPr sz="1200" b="0" dirty="0">
                <a:latin typeface="Calibri"/>
              </a:rPr>
              <a:t> feature: 20% / 30% / 50%.</a:t>
            </a:r>
          </a:p>
          <a:p>
            <a:r>
              <a:rPr sz="1200" b="0" dirty="0">
                <a:latin typeface="Calibri"/>
              </a:rPr>
              <a:t>3. </a:t>
            </a:r>
            <a:r>
              <a:rPr sz="1200" b="0" dirty="0" err="1">
                <a:latin typeface="Calibri"/>
              </a:rPr>
              <a:t>Kích</a:t>
            </a:r>
            <a:r>
              <a:rPr sz="1200" b="0" dirty="0">
                <a:latin typeface="Calibri"/>
              </a:rPr>
              <a:t> </a:t>
            </a:r>
            <a:r>
              <a:rPr sz="1200" b="0" dirty="0" err="1">
                <a:latin typeface="Calibri"/>
              </a:rPr>
              <a:t>thước</a:t>
            </a:r>
            <a:r>
              <a:rPr sz="1200" b="0" dirty="0">
                <a:latin typeface="Calibri"/>
              </a:rPr>
              <a:t> </a:t>
            </a:r>
            <a:r>
              <a:rPr sz="1200" b="0" dirty="0" err="1">
                <a:latin typeface="Calibri"/>
              </a:rPr>
              <a:t>nền</a:t>
            </a:r>
            <a:r>
              <a:rPr sz="1200" b="0" dirty="0">
                <a:latin typeface="Calibri"/>
              </a:rPr>
              <a:t>: 10 / 20 / 40 donor.</a:t>
            </a:r>
            <a:endParaRPr lang="en-US" sz="1200" b="0" dirty="0">
              <a:latin typeface="Calibri"/>
            </a:endParaRPr>
          </a:p>
          <a:p>
            <a:endParaRPr sz="1200" b="0" dirty="0">
              <a:latin typeface="Calibri"/>
            </a:endParaRPr>
          </a:p>
          <a:p>
            <a:r>
              <a:rPr sz="1200" b="0" dirty="0">
                <a:latin typeface="Calibri"/>
              </a:rPr>
              <a:t>4. Bootstrap 500 </a:t>
            </a:r>
            <a:r>
              <a:rPr sz="1200" b="0" dirty="0" err="1">
                <a:latin typeface="Calibri"/>
              </a:rPr>
              <a:t>lần</a:t>
            </a:r>
            <a:r>
              <a:rPr sz="1200" b="0" dirty="0">
                <a:latin typeface="Calibri"/>
              </a:rPr>
              <a:t> </a:t>
            </a:r>
            <a:r>
              <a:rPr sz="1200" b="0" dirty="0" err="1">
                <a:latin typeface="Calibri"/>
              </a:rPr>
              <a:t>để</a:t>
            </a:r>
            <a:r>
              <a:rPr sz="1200" b="0" dirty="0">
                <a:latin typeface="Calibri"/>
              </a:rPr>
              <a:t> </a:t>
            </a:r>
            <a:r>
              <a:rPr sz="1200" b="0" dirty="0" err="1">
                <a:latin typeface="Calibri"/>
              </a:rPr>
              <a:t>lấy</a:t>
            </a:r>
            <a:r>
              <a:rPr sz="1200" b="0" dirty="0">
                <a:latin typeface="Calibri"/>
              </a:rPr>
              <a:t> </a:t>
            </a:r>
            <a:r>
              <a:rPr sz="1200" b="0" dirty="0" err="1">
                <a:latin typeface="Calibri"/>
              </a:rPr>
              <a:t>khoảng</a:t>
            </a:r>
            <a:r>
              <a:rPr sz="1200" b="0" dirty="0">
                <a:latin typeface="Calibri"/>
              </a:rPr>
              <a:t> tin </a:t>
            </a:r>
            <a:r>
              <a:rPr sz="1200" b="0" dirty="0" err="1">
                <a:latin typeface="Calibri"/>
              </a:rPr>
              <a:t>cậy</a:t>
            </a:r>
            <a:r>
              <a:rPr sz="1200" b="0" dirty="0">
                <a:latin typeface="Calibri"/>
              </a:rPr>
              <a:t> 95%.</a:t>
            </a:r>
          </a:p>
        </p:txBody>
      </p:sp>
      <p:sp>
        <p:nvSpPr>
          <p:cNvPr id="9" name="Shape 6"/>
          <p:cNvSpPr/>
          <p:nvPr/>
        </p:nvSpPr>
        <p:spPr>
          <a:xfrm>
            <a:off x="6172200" y="1874520"/>
            <a:ext cx="5394960" cy="4114800"/>
          </a:xfrm>
          <a:prstGeom prst="roundRect">
            <a:avLst>
              <a:gd name="adj" fmla="val 1778"/>
            </a:avLst>
          </a:prstGeom>
          <a:solidFill>
            <a:srgbClr val="F5F7FC"/>
          </a:solidFill>
          <a:ln/>
        </p:spPr>
        <p:txBody>
          <a:bodyPr/>
          <a:lstStyle/>
          <a:p>
            <a:endParaRPr/>
          </a:p>
        </p:txBody>
      </p:sp>
      <p:sp>
        <p:nvSpPr>
          <p:cNvPr id="10" name="Text 7"/>
          <p:cNvSpPr/>
          <p:nvPr/>
        </p:nvSpPr>
        <p:spPr>
          <a:xfrm>
            <a:off x="6181344" y="1862602"/>
            <a:ext cx="4937760" cy="365760"/>
          </a:xfrm>
          <a:prstGeom prst="rect">
            <a:avLst/>
          </a:prstGeom>
          <a:noFill/>
          <a:ln/>
        </p:spPr>
        <p:txBody>
          <a:bodyPr wrap="square" rtlCol="0" anchor="ctr"/>
          <a:lstStyle/>
          <a:p>
            <a:pPr marL="0" indent="0">
              <a:buNone/>
            </a:pPr>
            <a:r>
              <a:rPr sz="1600" b="1" dirty="0" err="1">
                <a:latin typeface="Calibri"/>
              </a:rPr>
              <a:t>Kết</a:t>
            </a:r>
            <a:r>
              <a:rPr sz="1600" b="1" dirty="0">
                <a:latin typeface="Calibri"/>
              </a:rPr>
              <a:t> </a:t>
            </a:r>
            <a:r>
              <a:rPr sz="1600" b="1" dirty="0" err="1">
                <a:latin typeface="Calibri"/>
              </a:rPr>
              <a:t>quả</a:t>
            </a:r>
            <a:r>
              <a:rPr sz="1600" b="1" dirty="0">
                <a:latin typeface="Calibri"/>
              </a:rPr>
              <a:t> </a:t>
            </a:r>
            <a:r>
              <a:rPr sz="1600" b="1" dirty="0" err="1">
                <a:latin typeface="Calibri"/>
              </a:rPr>
              <a:t>chính</a:t>
            </a:r>
            <a:endParaRPr lang="en-US" sz="1600" dirty="0"/>
          </a:p>
        </p:txBody>
      </p:sp>
      <p:sp>
        <p:nvSpPr>
          <p:cNvPr id="11" name="Text 8"/>
          <p:cNvSpPr/>
          <p:nvPr/>
        </p:nvSpPr>
        <p:spPr>
          <a:xfrm>
            <a:off x="6446520" y="2423160"/>
            <a:ext cx="4937760" cy="3474720"/>
          </a:xfrm>
          <a:prstGeom prst="rect">
            <a:avLst/>
          </a:prstGeom>
          <a:noFill/>
          <a:ln/>
        </p:spPr>
        <p:txBody>
          <a:bodyPr wrap="square" rtlCol="0" anchor="t"/>
          <a:lstStyle/>
          <a:p>
            <a:pPr marL="0" indent="0">
              <a:spcAft>
                <a:spcPts val="1100"/>
              </a:spcAft>
              <a:buNone/>
            </a:pPr>
            <a:endParaRPr lang="en-US" sz="1250" dirty="0"/>
          </a:p>
        </p:txBody>
      </p:sp>
      <p:graphicFrame>
        <p:nvGraphicFramePr>
          <p:cNvPr id="12" name="Table 11"/>
          <p:cNvGraphicFramePr>
            <a:graphicFrameLocks noGrp="1"/>
          </p:cNvGraphicFramePr>
          <p:nvPr>
            <p:extLst>
              <p:ext uri="{D42A27DB-BD31-4B8C-83A1-F6EECF244321}">
                <p14:modId xmlns:p14="http://schemas.microsoft.com/office/powerpoint/2010/main" val="3473798757"/>
              </p:ext>
            </p:extLst>
          </p:nvPr>
        </p:nvGraphicFramePr>
        <p:xfrm>
          <a:off x="6711696" y="2171700"/>
          <a:ext cx="4407408" cy="960120"/>
        </p:xfrm>
        <a:graphic>
          <a:graphicData uri="http://schemas.openxmlformats.org/drawingml/2006/table">
            <a:tbl>
              <a:tblPr firstRow="1" bandRow="1">
                <a:tableStyleId>{5C22544A-7EE6-4342-B048-85BDC9FD1C3A}</a:tableStyleId>
              </a:tblPr>
              <a:tblGrid>
                <a:gridCol w="2203704">
                  <a:extLst>
                    <a:ext uri="{9D8B030D-6E8A-4147-A177-3AD203B41FA5}">
                      <a16:colId xmlns:a16="http://schemas.microsoft.com/office/drawing/2014/main" val="20000"/>
                    </a:ext>
                  </a:extLst>
                </a:gridCol>
                <a:gridCol w="2203704">
                  <a:extLst>
                    <a:ext uri="{9D8B030D-6E8A-4147-A177-3AD203B41FA5}">
                      <a16:colId xmlns:a16="http://schemas.microsoft.com/office/drawing/2014/main" val="20001"/>
                    </a:ext>
                  </a:extLst>
                </a:gridCol>
              </a:tblGrid>
              <a:tr h="320040">
                <a:tc>
                  <a:txBody>
                    <a:bodyPr/>
                    <a:lstStyle/>
                    <a:p>
                      <a:pPr algn="ctr"/>
                      <a:r>
                        <a:rPr sz="819" b="1" dirty="0">
                          <a:latin typeface="Calibri"/>
                        </a:rPr>
                        <a:t>Metric</a:t>
                      </a:r>
                    </a:p>
                  </a:txBody>
                  <a:tcPr marL="36576" marR="36576" marT="18288" marB="18288">
                    <a:solidFill>
                      <a:srgbClr val="DAE6F2"/>
                    </a:solidFill>
                  </a:tcPr>
                </a:tc>
                <a:tc>
                  <a:txBody>
                    <a:bodyPr/>
                    <a:lstStyle/>
                    <a:p>
                      <a:pPr algn="ctr"/>
                      <a:r>
                        <a:rPr sz="819" b="1">
                          <a:latin typeface="Calibri"/>
                        </a:rPr>
                        <a:t>Baseline corr. [CI]</a:t>
                      </a:r>
                    </a:p>
                  </a:txBody>
                  <a:tcPr marL="36576" marR="36576" marT="18288" marB="18288">
                    <a:solidFill>
                      <a:srgbClr val="DAE6F2"/>
                    </a:solidFill>
                  </a:tcPr>
                </a:tc>
                <a:extLst>
                  <a:ext uri="{0D108BD9-81ED-4DB2-BD59-A6C34878D82A}">
                    <a16:rowId xmlns:a16="http://schemas.microsoft.com/office/drawing/2014/main" val="10000"/>
                  </a:ext>
                </a:extLst>
              </a:tr>
              <a:tr h="320040">
                <a:tc>
                  <a:txBody>
                    <a:bodyPr/>
                    <a:lstStyle/>
                    <a:p>
                      <a:pPr algn="ctr"/>
                      <a:r>
                        <a:rPr sz="819" b="0" dirty="0">
                          <a:latin typeface="Calibri"/>
                        </a:rPr>
                        <a:t>Deletion</a:t>
                      </a:r>
                    </a:p>
                  </a:txBody>
                  <a:tcPr marL="36576" marR="36576" marT="18288" marB="18288">
                    <a:solidFill>
                      <a:srgbClr val="FAFCFF"/>
                    </a:solidFill>
                  </a:tcPr>
                </a:tc>
                <a:tc>
                  <a:txBody>
                    <a:bodyPr/>
                    <a:lstStyle/>
                    <a:p>
                      <a:pPr algn="ctr"/>
                      <a:r>
                        <a:rPr sz="819" b="0" dirty="0">
                          <a:latin typeface="Calibri"/>
                        </a:rPr>
                        <a:t>0.37 [-0.26, 0.89]</a:t>
                      </a:r>
                    </a:p>
                  </a:txBody>
                  <a:tcPr marL="36576" marR="36576" marT="18288" marB="18288">
                    <a:solidFill>
                      <a:srgbClr val="FAFCFF"/>
                    </a:solidFill>
                  </a:tcPr>
                </a:tc>
                <a:extLst>
                  <a:ext uri="{0D108BD9-81ED-4DB2-BD59-A6C34878D82A}">
                    <a16:rowId xmlns:a16="http://schemas.microsoft.com/office/drawing/2014/main" val="10001"/>
                  </a:ext>
                </a:extLst>
              </a:tr>
              <a:tr h="320040">
                <a:tc>
                  <a:txBody>
                    <a:bodyPr/>
                    <a:lstStyle/>
                    <a:p>
                      <a:pPr algn="ctr"/>
                      <a:r>
                        <a:rPr sz="819" b="0" dirty="0">
                          <a:latin typeface="Calibri"/>
                        </a:rPr>
                        <a:t>Infidelity</a:t>
                      </a:r>
                    </a:p>
                  </a:txBody>
                  <a:tcPr marL="36576" marR="36576" marT="18288" marB="18288">
                    <a:solidFill>
                      <a:srgbClr val="FAFCFF"/>
                    </a:solidFill>
                  </a:tcPr>
                </a:tc>
                <a:tc>
                  <a:txBody>
                    <a:bodyPr/>
                    <a:lstStyle/>
                    <a:p>
                      <a:pPr algn="ctr"/>
                      <a:r>
                        <a:rPr sz="819" b="0" dirty="0">
                          <a:latin typeface="Calibri"/>
                        </a:rPr>
                        <a:t>0.97 [0.83, 1.00]</a:t>
                      </a:r>
                    </a:p>
                  </a:txBody>
                  <a:tcPr marL="36576" marR="36576" marT="18288" marB="18288">
                    <a:solidFill>
                      <a:srgbClr val="FAFCFF"/>
                    </a:solidFill>
                  </a:tcPr>
                </a:tc>
                <a:extLst>
                  <a:ext uri="{0D108BD9-81ED-4DB2-BD59-A6C34878D82A}">
                    <a16:rowId xmlns:a16="http://schemas.microsoft.com/office/drawing/2014/main" val="10002"/>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844031926"/>
              </p:ext>
            </p:extLst>
          </p:nvPr>
        </p:nvGraphicFramePr>
        <p:xfrm>
          <a:off x="6711696" y="3223260"/>
          <a:ext cx="4407408" cy="1143000"/>
        </p:xfrm>
        <a:graphic>
          <a:graphicData uri="http://schemas.openxmlformats.org/drawingml/2006/table">
            <a:tbl>
              <a:tblPr firstRow="1" bandRow="1">
                <a:tableStyleId>{5C22544A-7EE6-4342-B048-85BDC9FD1C3A}</a:tableStyleId>
              </a:tblPr>
              <a:tblGrid>
                <a:gridCol w="1469136">
                  <a:extLst>
                    <a:ext uri="{9D8B030D-6E8A-4147-A177-3AD203B41FA5}">
                      <a16:colId xmlns:a16="http://schemas.microsoft.com/office/drawing/2014/main" val="20000"/>
                    </a:ext>
                  </a:extLst>
                </a:gridCol>
                <a:gridCol w="1469136">
                  <a:extLst>
                    <a:ext uri="{9D8B030D-6E8A-4147-A177-3AD203B41FA5}">
                      <a16:colId xmlns:a16="http://schemas.microsoft.com/office/drawing/2014/main" val="20001"/>
                    </a:ext>
                  </a:extLst>
                </a:gridCol>
                <a:gridCol w="1469136">
                  <a:extLst>
                    <a:ext uri="{9D8B030D-6E8A-4147-A177-3AD203B41FA5}">
                      <a16:colId xmlns:a16="http://schemas.microsoft.com/office/drawing/2014/main" val="20002"/>
                    </a:ext>
                  </a:extLst>
                </a:gridCol>
              </a:tblGrid>
              <a:tr h="285750">
                <a:tc>
                  <a:txBody>
                    <a:bodyPr/>
                    <a:lstStyle/>
                    <a:p>
                      <a:pPr algn="ctr"/>
                      <a:r>
                        <a:rPr sz="800" b="1" dirty="0">
                          <a:latin typeface="Calibri"/>
                        </a:rPr>
                        <a:t>Tham </a:t>
                      </a:r>
                      <a:r>
                        <a:rPr sz="800" b="1" dirty="0" err="1">
                          <a:latin typeface="Calibri"/>
                        </a:rPr>
                        <a:t>số</a:t>
                      </a:r>
                      <a:endParaRPr sz="800" b="1" dirty="0">
                        <a:latin typeface="Calibri"/>
                      </a:endParaRPr>
                    </a:p>
                  </a:txBody>
                  <a:tcPr marL="36576" marR="36576" marT="18288" marB="18288">
                    <a:solidFill>
                      <a:srgbClr val="DAE6F2"/>
                    </a:solidFill>
                  </a:tcPr>
                </a:tc>
                <a:tc>
                  <a:txBody>
                    <a:bodyPr/>
                    <a:lstStyle/>
                    <a:p>
                      <a:pPr algn="ctr"/>
                      <a:r>
                        <a:rPr sz="800" b="1" dirty="0">
                          <a:latin typeface="Calibri"/>
                        </a:rPr>
                        <a:t>Deletion Δ</a:t>
                      </a:r>
                    </a:p>
                  </a:txBody>
                  <a:tcPr marL="36576" marR="36576" marT="18288" marB="18288">
                    <a:solidFill>
                      <a:srgbClr val="DAE6F2"/>
                    </a:solidFill>
                  </a:tcPr>
                </a:tc>
                <a:tc>
                  <a:txBody>
                    <a:bodyPr/>
                    <a:lstStyle/>
                    <a:p>
                      <a:pPr algn="ctr"/>
                      <a:r>
                        <a:rPr sz="800" b="1">
                          <a:latin typeface="Calibri"/>
                        </a:rPr>
                        <a:t>Infidelity Δ</a:t>
                      </a:r>
                    </a:p>
                  </a:txBody>
                  <a:tcPr marL="36576" marR="36576" marT="18288" marB="18288">
                    <a:solidFill>
                      <a:srgbClr val="DAE6F2"/>
                    </a:solidFill>
                  </a:tcPr>
                </a:tc>
                <a:extLst>
                  <a:ext uri="{0D108BD9-81ED-4DB2-BD59-A6C34878D82A}">
                    <a16:rowId xmlns:a16="http://schemas.microsoft.com/office/drawing/2014/main" val="10000"/>
                  </a:ext>
                </a:extLst>
              </a:tr>
              <a:tr h="285750">
                <a:tc>
                  <a:txBody>
                    <a:bodyPr/>
                    <a:lstStyle/>
                    <a:p>
                      <a:pPr algn="ctr"/>
                      <a:r>
                        <a:rPr sz="800" b="0">
                          <a:latin typeface="Calibri"/>
                        </a:rPr>
                        <a:t>Số điểm</a:t>
                      </a:r>
                    </a:p>
                  </a:txBody>
                  <a:tcPr marL="36576" marR="36576" marT="18288" marB="18288">
                    <a:solidFill>
                      <a:srgbClr val="FAFCFF"/>
                    </a:solidFill>
                  </a:tcPr>
                </a:tc>
                <a:tc>
                  <a:txBody>
                    <a:bodyPr/>
                    <a:lstStyle/>
                    <a:p>
                      <a:pPr algn="ctr"/>
                      <a:r>
                        <a:rPr sz="800" b="0">
                          <a:latin typeface="Calibri"/>
                        </a:rPr>
                        <a:t>0.32</a:t>
                      </a:r>
                    </a:p>
                  </a:txBody>
                  <a:tcPr marL="36576" marR="36576" marT="18288" marB="18288">
                    <a:solidFill>
                      <a:srgbClr val="FAFCFF"/>
                    </a:solidFill>
                  </a:tcPr>
                </a:tc>
                <a:tc>
                  <a:txBody>
                    <a:bodyPr/>
                    <a:lstStyle/>
                    <a:p>
                      <a:pPr algn="ctr"/>
                      <a:r>
                        <a:rPr sz="800" b="0">
                          <a:latin typeface="Calibri"/>
                        </a:rPr>
                        <a:t>0.14</a:t>
                      </a:r>
                    </a:p>
                  </a:txBody>
                  <a:tcPr marL="36576" marR="36576" marT="18288" marB="18288">
                    <a:solidFill>
                      <a:srgbClr val="FAFCFF"/>
                    </a:solidFill>
                  </a:tcPr>
                </a:tc>
                <a:extLst>
                  <a:ext uri="{0D108BD9-81ED-4DB2-BD59-A6C34878D82A}">
                    <a16:rowId xmlns:a16="http://schemas.microsoft.com/office/drawing/2014/main" val="10001"/>
                  </a:ext>
                </a:extLst>
              </a:tr>
              <a:tr h="285750">
                <a:tc>
                  <a:txBody>
                    <a:bodyPr/>
                    <a:lstStyle/>
                    <a:p>
                      <a:pPr algn="ctr"/>
                      <a:r>
                        <a:rPr sz="800" b="0">
                          <a:latin typeface="Calibri"/>
                        </a:rPr>
                        <a:t>Tỷ lệ che</a:t>
                      </a:r>
                    </a:p>
                  </a:txBody>
                  <a:tcPr marL="36576" marR="36576" marT="18288" marB="18288">
                    <a:solidFill>
                      <a:srgbClr val="FAFCFF"/>
                    </a:solidFill>
                  </a:tcPr>
                </a:tc>
                <a:tc>
                  <a:txBody>
                    <a:bodyPr/>
                    <a:lstStyle/>
                    <a:p>
                      <a:pPr algn="ctr"/>
                      <a:r>
                        <a:rPr sz="800" b="0">
                          <a:latin typeface="Calibri"/>
                        </a:rPr>
                        <a:t>0.01</a:t>
                      </a:r>
                    </a:p>
                  </a:txBody>
                  <a:tcPr marL="36576" marR="36576" marT="18288" marB="18288">
                    <a:solidFill>
                      <a:srgbClr val="FAFCFF"/>
                    </a:solidFill>
                  </a:tcPr>
                </a:tc>
                <a:tc>
                  <a:txBody>
                    <a:bodyPr/>
                    <a:lstStyle/>
                    <a:p>
                      <a:pPr algn="ctr"/>
                      <a:r>
                        <a:rPr sz="800" b="0">
                          <a:latin typeface="Calibri"/>
                        </a:rPr>
                        <a:t>0.02</a:t>
                      </a:r>
                    </a:p>
                  </a:txBody>
                  <a:tcPr marL="36576" marR="36576" marT="18288" marB="18288">
                    <a:solidFill>
                      <a:srgbClr val="FAFCFF"/>
                    </a:solidFill>
                  </a:tcPr>
                </a:tc>
                <a:extLst>
                  <a:ext uri="{0D108BD9-81ED-4DB2-BD59-A6C34878D82A}">
                    <a16:rowId xmlns:a16="http://schemas.microsoft.com/office/drawing/2014/main" val="10002"/>
                  </a:ext>
                </a:extLst>
              </a:tr>
              <a:tr h="285750">
                <a:tc>
                  <a:txBody>
                    <a:bodyPr/>
                    <a:lstStyle/>
                    <a:p>
                      <a:pPr algn="ctr"/>
                      <a:r>
                        <a:rPr sz="800" b="0">
                          <a:latin typeface="Calibri"/>
                        </a:rPr>
                        <a:t>Nền</a:t>
                      </a:r>
                    </a:p>
                  </a:txBody>
                  <a:tcPr marL="36576" marR="36576" marT="18288" marB="18288">
                    <a:solidFill>
                      <a:srgbClr val="FAFCFF"/>
                    </a:solidFill>
                  </a:tcPr>
                </a:tc>
                <a:tc>
                  <a:txBody>
                    <a:bodyPr/>
                    <a:lstStyle/>
                    <a:p>
                      <a:pPr algn="ctr"/>
                      <a:r>
                        <a:rPr sz="800" b="0">
                          <a:latin typeface="Calibri"/>
                        </a:rPr>
                        <a:t>0.46</a:t>
                      </a:r>
                    </a:p>
                  </a:txBody>
                  <a:tcPr marL="36576" marR="36576" marT="18288" marB="18288">
                    <a:solidFill>
                      <a:srgbClr val="FAFCFF"/>
                    </a:solidFill>
                  </a:tcPr>
                </a:tc>
                <a:tc>
                  <a:txBody>
                    <a:bodyPr/>
                    <a:lstStyle/>
                    <a:p>
                      <a:pPr algn="ctr"/>
                      <a:r>
                        <a:rPr sz="800" b="0" dirty="0">
                          <a:latin typeface="Calibri"/>
                        </a:rPr>
                        <a:t>0.02</a:t>
                      </a:r>
                    </a:p>
                  </a:txBody>
                  <a:tcPr marL="36576" marR="36576" marT="18288" marB="18288">
                    <a:solidFill>
                      <a:srgbClr val="FAFCFF"/>
                    </a:solidFill>
                  </a:tcPr>
                </a:tc>
                <a:extLst>
                  <a:ext uri="{0D108BD9-81ED-4DB2-BD59-A6C34878D82A}">
                    <a16:rowId xmlns:a16="http://schemas.microsoft.com/office/drawing/2014/main" val="10003"/>
                  </a:ext>
                </a:extLst>
              </a:tr>
            </a:tbl>
          </a:graphicData>
        </a:graphic>
      </p:graphicFrame>
      <p:pic>
        <p:nvPicPr>
          <p:cNvPr id="14" name="Picture 13" descr="parameter_sensitivity.png"/>
          <p:cNvPicPr>
            <a:picLocks noChangeAspect="1"/>
          </p:cNvPicPr>
          <p:nvPr/>
        </p:nvPicPr>
        <p:blipFill>
          <a:blip r:embed="rId3"/>
          <a:stretch>
            <a:fillRect/>
          </a:stretch>
        </p:blipFill>
        <p:spPr>
          <a:xfrm>
            <a:off x="6711696" y="4457700"/>
            <a:ext cx="4407408" cy="14173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20040" y="256032"/>
            <a:ext cx="1051560" cy="420624"/>
          </a:xfrm>
          <a:prstGeom prst="rect">
            <a:avLst/>
          </a:prstGeom>
        </p:spPr>
      </p:pic>
      <p:sp>
        <p:nvSpPr>
          <p:cNvPr id="3" name="Text 0"/>
          <p:cNvSpPr/>
          <p:nvPr/>
        </p:nvSpPr>
        <p:spPr>
          <a:xfrm>
            <a:off x="457200" y="868680"/>
            <a:ext cx="11247120" cy="548640"/>
          </a:xfrm>
          <a:prstGeom prst="rect">
            <a:avLst/>
          </a:prstGeom>
          <a:noFill/>
          <a:ln/>
        </p:spPr>
        <p:txBody>
          <a:bodyPr wrap="square" rtlCol="0" anchor="ctr"/>
          <a:lstStyle/>
          <a:p>
            <a:pPr marL="0" indent="0">
              <a:buNone/>
            </a:pPr>
            <a:r>
              <a:rPr sz="2500" b="1">
                <a:latin typeface="Cambria"/>
              </a:rPr>
              <a:t>Tái lập &amp; nhân quả</a:t>
            </a:r>
            <a:endParaRPr lang="en-US" sz="2600" dirty="0"/>
          </a:p>
        </p:txBody>
      </p:sp>
      <p:sp>
        <p:nvSpPr>
          <p:cNvPr id="4" name="Text 1"/>
          <p:cNvSpPr/>
          <p:nvPr/>
        </p:nvSpPr>
        <p:spPr>
          <a:xfrm>
            <a:off x="457200" y="1417320"/>
            <a:ext cx="11247120" cy="365760"/>
          </a:xfrm>
          <a:prstGeom prst="rect">
            <a:avLst/>
          </a:prstGeom>
          <a:noFill/>
          <a:ln/>
        </p:spPr>
        <p:txBody>
          <a:bodyPr wrap="square" rtlCol="0" anchor="ctr"/>
          <a:lstStyle/>
          <a:p>
            <a:pPr marL="0" indent="0">
              <a:buNone/>
            </a:pPr>
            <a:r>
              <a:rPr sz="1300" b="0">
                <a:latin typeface="Calibri"/>
              </a:rPr>
              <a:t>Đóng gói code + README để chạy lại</a:t>
            </a:r>
            <a:endParaRPr lang="en-US" sz="13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sz="900" b="0">
                <a:latin typeface="Calibri"/>
              </a:rPr>
              <a:t>19</a:t>
            </a:r>
            <a:endParaRPr lang="en-US" sz="900" dirty="0"/>
          </a:p>
        </p:txBody>
      </p:sp>
      <p:sp>
        <p:nvSpPr>
          <p:cNvPr id="6" name="Shape 3"/>
          <p:cNvSpPr/>
          <p:nvPr/>
        </p:nvSpPr>
        <p:spPr>
          <a:xfrm>
            <a:off x="548640" y="1874520"/>
            <a:ext cx="5394960" cy="4114800"/>
          </a:xfrm>
          <a:prstGeom prst="roundRect">
            <a:avLst>
              <a:gd name="adj" fmla="val 1778"/>
            </a:avLst>
          </a:prstGeom>
          <a:solidFill>
            <a:srgbClr val="EEF2FB"/>
          </a:solidFill>
          <a:ln w="12700">
            <a:solidFill>
              <a:srgbClr val="2E4A9E"/>
            </a:solidFill>
            <a:prstDash val="solid"/>
          </a:ln>
        </p:spPr>
        <p:txBody>
          <a:bodyPr/>
          <a:lstStyle/>
          <a:p>
            <a:endParaRPr/>
          </a:p>
        </p:txBody>
      </p:sp>
      <p:sp>
        <p:nvSpPr>
          <p:cNvPr id="7" name="Text 4"/>
          <p:cNvSpPr/>
          <p:nvPr/>
        </p:nvSpPr>
        <p:spPr>
          <a:xfrm>
            <a:off x="777240" y="2011680"/>
            <a:ext cx="4937760" cy="365760"/>
          </a:xfrm>
          <a:prstGeom prst="rect">
            <a:avLst/>
          </a:prstGeom>
          <a:noFill/>
          <a:ln/>
        </p:spPr>
        <p:txBody>
          <a:bodyPr wrap="square" rtlCol="0" anchor="ctr"/>
          <a:lstStyle/>
          <a:p>
            <a:pPr marL="0" indent="0">
              <a:buNone/>
            </a:pPr>
            <a:r>
              <a:rPr sz="1600" b="1">
                <a:latin typeface="Calibri"/>
              </a:rPr>
              <a:t>Code đã đóng gói</a:t>
            </a:r>
            <a:endParaRPr lang="en-US" sz="1600" dirty="0"/>
          </a:p>
        </p:txBody>
      </p:sp>
      <p:sp>
        <p:nvSpPr>
          <p:cNvPr id="8" name="Text 5"/>
          <p:cNvSpPr/>
          <p:nvPr/>
        </p:nvSpPr>
        <p:spPr>
          <a:xfrm>
            <a:off x="777240" y="2423160"/>
            <a:ext cx="4937760" cy="3474720"/>
          </a:xfrm>
          <a:prstGeom prst="rect">
            <a:avLst/>
          </a:prstGeom>
          <a:noFill/>
          <a:ln/>
        </p:spPr>
        <p:txBody>
          <a:bodyPr wrap="square" rtlCol="0" anchor="t"/>
          <a:lstStyle/>
          <a:p>
            <a:pPr marL="0" indent="0">
              <a:spcAft>
                <a:spcPts val="1100"/>
              </a:spcAft>
              <a:buNone/>
            </a:pPr>
            <a:r>
              <a:rPr sz="1120" b="0" dirty="0">
                <a:latin typeface="Calibri"/>
              </a:rPr>
              <a:t>parameter_sensitivity.py: </a:t>
            </a:r>
            <a:r>
              <a:rPr sz="1120" b="0" dirty="0" err="1">
                <a:latin typeface="Calibri"/>
              </a:rPr>
              <a:t>chạy</a:t>
            </a:r>
            <a:r>
              <a:rPr sz="1120" b="0" dirty="0">
                <a:latin typeface="Calibri"/>
              </a:rPr>
              <a:t> sensitivity + CI.</a:t>
            </a:r>
            <a:endParaRPr lang="en-US" sz="1300" dirty="0"/>
          </a:p>
          <a:p>
            <a:pPr marL="0" indent="0">
              <a:spcAft>
                <a:spcPts val="1100"/>
              </a:spcAft>
              <a:buNone/>
            </a:pPr>
            <a:r>
              <a:rPr sz="1120" b="0" dirty="0">
                <a:latin typeface="Calibri"/>
              </a:rPr>
              <a:t>README.md: </a:t>
            </a:r>
            <a:r>
              <a:rPr sz="1120" b="0" dirty="0" err="1">
                <a:latin typeface="Calibri"/>
              </a:rPr>
              <a:t>hướng</a:t>
            </a:r>
            <a:r>
              <a:rPr sz="1120" b="0" dirty="0">
                <a:latin typeface="Calibri"/>
              </a:rPr>
              <a:t> </a:t>
            </a:r>
            <a:r>
              <a:rPr sz="1120" b="0" dirty="0" err="1">
                <a:latin typeface="Calibri"/>
              </a:rPr>
              <a:t>dẫn</a:t>
            </a:r>
            <a:r>
              <a:rPr sz="1120" b="0" dirty="0">
                <a:latin typeface="Calibri"/>
              </a:rPr>
              <a:t> </a:t>
            </a:r>
            <a:r>
              <a:rPr sz="1120" b="0" dirty="0" err="1">
                <a:latin typeface="Calibri"/>
              </a:rPr>
              <a:t>dữ</a:t>
            </a:r>
            <a:r>
              <a:rPr sz="1120" b="0" dirty="0">
                <a:latin typeface="Calibri"/>
              </a:rPr>
              <a:t> </a:t>
            </a:r>
            <a:r>
              <a:rPr sz="1120" b="0" dirty="0" err="1">
                <a:latin typeface="Calibri"/>
              </a:rPr>
              <a:t>liệu</a:t>
            </a:r>
            <a:r>
              <a:rPr sz="1120" b="0" dirty="0">
                <a:latin typeface="Calibri"/>
              </a:rPr>
              <a:t>, </a:t>
            </a:r>
            <a:r>
              <a:rPr sz="1120" b="0" dirty="0" err="1">
                <a:latin typeface="Calibri"/>
              </a:rPr>
              <a:t>lệnh</a:t>
            </a:r>
            <a:r>
              <a:rPr sz="1120" b="0" dirty="0">
                <a:latin typeface="Calibri"/>
              </a:rPr>
              <a:t> </a:t>
            </a:r>
            <a:r>
              <a:rPr sz="1120" b="0" dirty="0" err="1">
                <a:latin typeface="Calibri"/>
              </a:rPr>
              <a:t>chạy</a:t>
            </a:r>
            <a:r>
              <a:rPr sz="1120" b="0" dirty="0">
                <a:latin typeface="Calibri"/>
              </a:rPr>
              <a:t>, ý </a:t>
            </a:r>
            <a:r>
              <a:rPr sz="1120" b="0" dirty="0" err="1">
                <a:latin typeface="Calibri"/>
              </a:rPr>
              <a:t>nghĩa</a:t>
            </a:r>
            <a:r>
              <a:rPr sz="1120" b="0" dirty="0">
                <a:latin typeface="Calibri"/>
              </a:rPr>
              <a:t>.</a:t>
            </a:r>
            <a:endParaRPr lang="en-US" sz="1120" b="0" dirty="0">
              <a:latin typeface="Calibri"/>
            </a:endParaRPr>
          </a:p>
          <a:p>
            <a:pPr marL="0" indent="0">
              <a:spcAft>
                <a:spcPts val="1100"/>
              </a:spcAft>
              <a:buNone/>
            </a:pPr>
            <a:r>
              <a:rPr sz="1120" b="0" dirty="0">
                <a:latin typeface="Calibri"/>
              </a:rPr>
              <a:t>requirements.txt: </a:t>
            </a:r>
            <a:r>
              <a:rPr sz="1120" b="0" dirty="0" err="1">
                <a:latin typeface="Calibri"/>
              </a:rPr>
              <a:t>thư</a:t>
            </a:r>
            <a:r>
              <a:rPr sz="1120" b="0" dirty="0">
                <a:latin typeface="Calibri"/>
              </a:rPr>
              <a:t> </a:t>
            </a:r>
            <a:r>
              <a:rPr sz="1120" b="0" dirty="0" err="1">
                <a:latin typeface="Calibri"/>
              </a:rPr>
              <a:t>viện</a:t>
            </a:r>
            <a:r>
              <a:rPr sz="1120" b="0" dirty="0">
                <a:latin typeface="Calibri"/>
              </a:rPr>
              <a:t> </a:t>
            </a:r>
            <a:r>
              <a:rPr sz="1120" b="0" dirty="0" err="1">
                <a:latin typeface="Calibri"/>
              </a:rPr>
              <a:t>tối</a:t>
            </a:r>
            <a:r>
              <a:rPr sz="1120" b="0" dirty="0">
                <a:latin typeface="Calibri"/>
              </a:rPr>
              <a:t> </a:t>
            </a:r>
            <a:r>
              <a:rPr sz="1120" b="0" dirty="0" err="1">
                <a:latin typeface="Calibri"/>
              </a:rPr>
              <a:t>thiểu</a:t>
            </a:r>
            <a:r>
              <a:rPr sz="1120" b="0" dirty="0">
                <a:latin typeface="Calibri"/>
              </a:rPr>
              <a:t>.</a:t>
            </a:r>
            <a:endParaRPr lang="en-US" sz="1120" b="0" dirty="0">
              <a:latin typeface="Calibri"/>
            </a:endParaRPr>
          </a:p>
          <a:p>
            <a:pPr marL="0" indent="0">
              <a:spcAft>
                <a:spcPts val="1100"/>
              </a:spcAft>
              <a:buNone/>
            </a:pPr>
            <a:r>
              <a:rPr sz="1120" b="0" dirty="0">
                <a:latin typeface="Calibri"/>
              </a:rPr>
              <a:t>outputs/: CSV, Markdown report </a:t>
            </a:r>
            <a:r>
              <a:rPr sz="1120" b="0" dirty="0" err="1">
                <a:latin typeface="Calibri"/>
              </a:rPr>
              <a:t>và</a:t>
            </a:r>
            <a:r>
              <a:rPr sz="1120" b="0" dirty="0">
                <a:latin typeface="Calibri"/>
              </a:rPr>
              <a:t> </a:t>
            </a:r>
            <a:r>
              <a:rPr sz="1120" b="0" dirty="0" err="1">
                <a:latin typeface="Calibri"/>
              </a:rPr>
              <a:t>hình</a:t>
            </a:r>
            <a:r>
              <a:rPr sz="1120" b="0" dirty="0">
                <a:latin typeface="Calibri"/>
              </a:rPr>
              <a:t> PNG.</a:t>
            </a:r>
          </a:p>
        </p:txBody>
      </p:sp>
      <p:sp>
        <p:nvSpPr>
          <p:cNvPr id="9" name="Shape 6"/>
          <p:cNvSpPr/>
          <p:nvPr/>
        </p:nvSpPr>
        <p:spPr>
          <a:xfrm>
            <a:off x="6217920" y="1874520"/>
            <a:ext cx="5394960" cy="4114800"/>
          </a:xfrm>
          <a:prstGeom prst="roundRect">
            <a:avLst>
              <a:gd name="adj" fmla="val 1778"/>
            </a:avLst>
          </a:prstGeom>
          <a:solidFill>
            <a:srgbClr val="F5F7FC"/>
          </a:solidFill>
          <a:ln/>
        </p:spPr>
        <p:txBody>
          <a:bodyPr/>
          <a:lstStyle/>
          <a:p>
            <a:endParaRPr/>
          </a:p>
        </p:txBody>
      </p:sp>
      <p:sp>
        <p:nvSpPr>
          <p:cNvPr id="10" name="Text 7"/>
          <p:cNvSpPr/>
          <p:nvPr/>
        </p:nvSpPr>
        <p:spPr>
          <a:xfrm>
            <a:off x="6446520" y="2011680"/>
            <a:ext cx="4937760" cy="365760"/>
          </a:xfrm>
          <a:prstGeom prst="rect">
            <a:avLst/>
          </a:prstGeom>
          <a:noFill/>
          <a:ln/>
        </p:spPr>
        <p:txBody>
          <a:bodyPr wrap="square" rtlCol="0" anchor="ctr"/>
          <a:lstStyle/>
          <a:p>
            <a:pPr marL="0" indent="0">
              <a:buNone/>
            </a:pPr>
            <a:r>
              <a:rPr sz="1600" b="1">
                <a:latin typeface="Calibri"/>
              </a:rPr>
              <a:t>Liên hệ với giải thích nhân quả</a:t>
            </a:r>
            <a:endParaRPr lang="en-US" sz="1600" dirty="0"/>
          </a:p>
        </p:txBody>
      </p:sp>
      <p:sp>
        <p:nvSpPr>
          <p:cNvPr id="11" name="Text 8"/>
          <p:cNvSpPr/>
          <p:nvPr/>
        </p:nvSpPr>
        <p:spPr>
          <a:xfrm>
            <a:off x="6446520" y="2423160"/>
            <a:ext cx="4937760" cy="3474720"/>
          </a:xfrm>
          <a:prstGeom prst="rect">
            <a:avLst/>
          </a:prstGeom>
          <a:noFill/>
          <a:ln/>
        </p:spPr>
        <p:txBody>
          <a:bodyPr wrap="square" rtlCol="0" anchor="t"/>
          <a:lstStyle/>
          <a:p>
            <a:pPr marL="0" indent="0">
              <a:spcAft>
                <a:spcPts val="1100"/>
              </a:spcAft>
              <a:buNone/>
            </a:pPr>
            <a:r>
              <a:rPr sz="1040" b="0" dirty="0">
                <a:latin typeface="Calibri"/>
              </a:rPr>
              <a:t>1. Corr </a:t>
            </a:r>
            <a:r>
              <a:rPr sz="1040" b="0" dirty="0" err="1">
                <a:latin typeface="Calibri"/>
              </a:rPr>
              <a:t>gần</a:t>
            </a:r>
            <a:r>
              <a:rPr sz="1040" b="0" dirty="0">
                <a:latin typeface="Calibri"/>
              </a:rPr>
              <a:t> 1 ⇒ ranking XAI </a:t>
            </a:r>
            <a:r>
              <a:rPr sz="1040" b="0" dirty="0" err="1">
                <a:latin typeface="Calibri"/>
              </a:rPr>
              <a:t>ít</a:t>
            </a:r>
            <a:r>
              <a:rPr sz="1040" b="0" dirty="0">
                <a:latin typeface="Calibri"/>
              </a:rPr>
              <a:t> </a:t>
            </a:r>
            <a:r>
              <a:rPr sz="1040" b="0" dirty="0" err="1">
                <a:latin typeface="Calibri"/>
              </a:rPr>
              <a:t>đổi</a:t>
            </a:r>
            <a:r>
              <a:rPr sz="1040" b="0" dirty="0">
                <a:latin typeface="Calibri"/>
              </a:rPr>
              <a:t> </a:t>
            </a:r>
            <a:r>
              <a:rPr sz="1040" b="0" dirty="0" err="1">
                <a:latin typeface="Calibri"/>
              </a:rPr>
              <a:t>giữa</a:t>
            </a:r>
            <a:r>
              <a:rPr sz="1040" b="0" dirty="0">
                <a:latin typeface="Calibri"/>
              </a:rPr>
              <a:t> marginal </a:t>
            </a:r>
            <a:r>
              <a:rPr sz="1040" b="0" dirty="0" err="1">
                <a:latin typeface="Calibri"/>
              </a:rPr>
              <a:t>và</a:t>
            </a:r>
            <a:r>
              <a:rPr sz="1040" b="0" dirty="0">
                <a:latin typeface="Calibri"/>
              </a:rPr>
              <a:t> on-manifold.</a:t>
            </a:r>
            <a:endParaRPr lang="en-US" sz="1250" dirty="0"/>
          </a:p>
          <a:p>
            <a:r>
              <a:rPr sz="1040" b="0" dirty="0">
                <a:latin typeface="Calibri"/>
              </a:rPr>
              <a:t>2. Infidelity 0.97 [0.83, 1.00] ⇒ </a:t>
            </a:r>
            <a:r>
              <a:rPr sz="1040" b="0" dirty="0" err="1">
                <a:latin typeface="Calibri"/>
              </a:rPr>
              <a:t>kết</a:t>
            </a:r>
            <a:r>
              <a:rPr sz="1040" b="0" dirty="0">
                <a:latin typeface="Calibri"/>
              </a:rPr>
              <a:t> </a:t>
            </a:r>
            <a:r>
              <a:rPr sz="1040" b="0" dirty="0" err="1">
                <a:latin typeface="Calibri"/>
              </a:rPr>
              <a:t>quả</a:t>
            </a:r>
            <a:r>
              <a:rPr sz="1040" b="0" dirty="0">
                <a:latin typeface="Calibri"/>
              </a:rPr>
              <a:t> </a:t>
            </a:r>
            <a:r>
              <a:rPr sz="1040" b="0" dirty="0" err="1">
                <a:latin typeface="Calibri"/>
              </a:rPr>
              <a:t>ổn</a:t>
            </a:r>
            <a:r>
              <a:rPr sz="1040" b="0" dirty="0">
                <a:latin typeface="Calibri"/>
              </a:rPr>
              <a:t> </a:t>
            </a:r>
            <a:r>
              <a:rPr sz="1040" b="0" dirty="0" err="1">
                <a:latin typeface="Calibri"/>
              </a:rPr>
              <a:t>định</a:t>
            </a:r>
            <a:r>
              <a:rPr sz="1040" b="0" dirty="0">
                <a:latin typeface="Calibri"/>
              </a:rPr>
              <a:t>, CI </a:t>
            </a:r>
            <a:r>
              <a:rPr sz="1040" b="0" dirty="0" err="1">
                <a:latin typeface="Calibri"/>
              </a:rPr>
              <a:t>cao</a:t>
            </a:r>
            <a:r>
              <a:rPr sz="1040" b="0" dirty="0">
                <a:latin typeface="Calibri"/>
              </a:rPr>
              <a:t>.</a:t>
            </a:r>
            <a:endParaRPr lang="en-US" sz="1040" b="0" dirty="0">
              <a:latin typeface="Calibri"/>
            </a:endParaRPr>
          </a:p>
          <a:p>
            <a:endParaRPr sz="1040" b="0" dirty="0">
              <a:latin typeface="Calibri"/>
            </a:endParaRPr>
          </a:p>
          <a:p>
            <a:r>
              <a:rPr sz="1040" b="0" dirty="0">
                <a:latin typeface="Calibri"/>
              </a:rPr>
              <a:t>3. Deletion 0.37 [-0.26, 0.89] ⇒ CI </a:t>
            </a:r>
            <a:r>
              <a:rPr sz="1040" b="0" dirty="0" err="1">
                <a:latin typeface="Calibri"/>
              </a:rPr>
              <a:t>rộng</a:t>
            </a:r>
            <a:r>
              <a:rPr sz="1040" b="0" dirty="0">
                <a:latin typeface="Calibri"/>
              </a:rPr>
              <a:t>, </a:t>
            </a:r>
            <a:r>
              <a:rPr sz="1040" b="0" dirty="0" err="1">
                <a:latin typeface="Calibri"/>
              </a:rPr>
              <a:t>có</a:t>
            </a:r>
            <a:r>
              <a:rPr sz="1040" b="0" dirty="0">
                <a:latin typeface="Calibri"/>
              </a:rPr>
              <a:t> </a:t>
            </a:r>
            <a:r>
              <a:rPr sz="1040" b="0" dirty="0" err="1">
                <a:latin typeface="Calibri"/>
              </a:rPr>
              <a:t>thể</a:t>
            </a:r>
            <a:r>
              <a:rPr sz="1040" b="0" dirty="0">
                <a:latin typeface="Calibri"/>
              </a:rPr>
              <a:t> </a:t>
            </a:r>
            <a:r>
              <a:rPr sz="1040" b="0" dirty="0" err="1">
                <a:latin typeface="Calibri"/>
              </a:rPr>
              <a:t>đảo</a:t>
            </a:r>
            <a:r>
              <a:rPr sz="1040" b="0" dirty="0">
                <a:latin typeface="Calibri"/>
              </a:rPr>
              <a:t> </a:t>
            </a:r>
            <a:r>
              <a:rPr sz="1040" b="0" dirty="0" err="1">
                <a:latin typeface="Calibri"/>
              </a:rPr>
              <a:t>chiều</a:t>
            </a:r>
            <a:r>
              <a:rPr sz="1040" b="0" dirty="0">
                <a:latin typeface="Calibri"/>
              </a:rPr>
              <a:t>.</a:t>
            </a:r>
            <a:endParaRPr lang="en-US" sz="1040" b="0" dirty="0">
              <a:latin typeface="Calibri"/>
            </a:endParaRPr>
          </a:p>
          <a:p>
            <a:endParaRPr sz="1040" b="0" dirty="0">
              <a:latin typeface="Calibri"/>
            </a:endParaRPr>
          </a:p>
          <a:p>
            <a:r>
              <a:rPr sz="1040" b="0" dirty="0">
                <a:latin typeface="Calibri"/>
              </a:rPr>
              <a:t>4. Δ </a:t>
            </a:r>
            <a:r>
              <a:rPr sz="1040" b="0" dirty="0" err="1">
                <a:latin typeface="Calibri"/>
              </a:rPr>
              <a:t>nền</a:t>
            </a:r>
            <a:r>
              <a:rPr sz="1040" b="0" dirty="0">
                <a:latin typeface="Calibri"/>
              </a:rPr>
              <a:t>: deletion 0.46 vs infidelity 0.02 ⇒ infidelity </a:t>
            </a:r>
            <a:r>
              <a:rPr sz="1040" b="0" dirty="0" err="1">
                <a:latin typeface="Calibri"/>
              </a:rPr>
              <a:t>bền</a:t>
            </a:r>
            <a:r>
              <a:rPr sz="1040" b="0" dirty="0">
                <a:latin typeface="Calibri"/>
              </a:rPr>
              <a:t> </a:t>
            </a:r>
            <a:r>
              <a:rPr sz="1040" b="0" dirty="0" err="1">
                <a:latin typeface="Calibri"/>
              </a:rPr>
              <a:t>hơn</a:t>
            </a:r>
            <a:r>
              <a:rPr sz="1040" b="0" dirty="0">
                <a:latin typeface="Calibri"/>
              </a:rPr>
              <a:t>.</a:t>
            </a:r>
            <a:endParaRPr lang="en-US" sz="1040" b="0" dirty="0">
              <a:latin typeface="Calibri"/>
            </a:endParaRPr>
          </a:p>
          <a:p>
            <a:endParaRPr sz="1040" b="0" dirty="0">
              <a:latin typeface="Calibri"/>
            </a:endParaRPr>
          </a:p>
          <a:p>
            <a:r>
              <a:rPr sz="1040" b="0" dirty="0">
                <a:latin typeface="Calibri"/>
              </a:rPr>
              <a:t>5. On-manifold donor </a:t>
            </a:r>
            <a:r>
              <a:rPr sz="1040" b="0" dirty="0" err="1">
                <a:latin typeface="Calibri"/>
              </a:rPr>
              <a:t>là</a:t>
            </a:r>
            <a:r>
              <a:rPr sz="1040" b="0" dirty="0">
                <a:latin typeface="Calibri"/>
              </a:rPr>
              <a:t> counterfactual </a:t>
            </a:r>
            <a:r>
              <a:rPr sz="1040" b="0" dirty="0" err="1">
                <a:latin typeface="Calibri"/>
              </a:rPr>
              <a:t>khả</a:t>
            </a:r>
            <a:r>
              <a:rPr sz="1040" b="0" dirty="0">
                <a:latin typeface="Calibri"/>
              </a:rPr>
              <a:t> </a:t>
            </a:r>
            <a:r>
              <a:rPr sz="1040" b="0" dirty="0" err="1">
                <a:latin typeface="Calibri"/>
              </a:rPr>
              <a:t>thi</a:t>
            </a:r>
            <a:r>
              <a:rPr sz="1040" b="0" dirty="0">
                <a:latin typeface="Calibri"/>
              </a:rPr>
              <a:t>, </a:t>
            </a:r>
            <a:r>
              <a:rPr sz="1040" b="0" dirty="0" err="1">
                <a:latin typeface="Calibri"/>
              </a:rPr>
              <a:t>chưa</a:t>
            </a:r>
            <a:r>
              <a:rPr sz="1040" b="0" dirty="0">
                <a:latin typeface="Calibri"/>
              </a:rPr>
              <a:t> </a:t>
            </a:r>
            <a:r>
              <a:rPr sz="1040" b="0" dirty="0" err="1">
                <a:latin typeface="Calibri"/>
              </a:rPr>
              <a:t>phải</a:t>
            </a:r>
            <a:r>
              <a:rPr sz="1040" b="0" dirty="0">
                <a:latin typeface="Calibri"/>
              </a:rPr>
              <a:t> </a:t>
            </a:r>
            <a:r>
              <a:rPr sz="1040" b="0" dirty="0" err="1">
                <a:latin typeface="Calibri"/>
              </a:rPr>
              <a:t>chứng</a:t>
            </a:r>
            <a:r>
              <a:rPr sz="1040" b="0" dirty="0">
                <a:latin typeface="Calibri"/>
              </a:rPr>
              <a:t> </a:t>
            </a:r>
            <a:r>
              <a:rPr sz="1040" b="0" dirty="0" err="1">
                <a:latin typeface="Calibri"/>
              </a:rPr>
              <a:t>minh</a:t>
            </a:r>
            <a:r>
              <a:rPr sz="1040" b="0" dirty="0">
                <a:latin typeface="Calibri"/>
              </a:rPr>
              <a:t> </a:t>
            </a:r>
            <a:r>
              <a:rPr sz="1040" b="0" dirty="0" err="1">
                <a:latin typeface="Calibri"/>
              </a:rPr>
              <a:t>nhân</a:t>
            </a:r>
            <a:r>
              <a:rPr sz="1040" b="0" dirty="0">
                <a:latin typeface="Calibri"/>
              </a:rPr>
              <a:t> </a:t>
            </a:r>
            <a:r>
              <a:rPr sz="1040" b="0" dirty="0" err="1">
                <a:latin typeface="Calibri"/>
              </a:rPr>
              <a:t>quả</a:t>
            </a:r>
            <a:r>
              <a:rPr sz="1040" b="0" dirty="0">
                <a:latin typeface="Calibri"/>
              </a:rPr>
              <a:t> </a:t>
            </a:r>
            <a:r>
              <a:rPr sz="1040" b="0" dirty="0" err="1">
                <a:latin typeface="Calibri"/>
              </a:rPr>
              <a:t>tuyệt</a:t>
            </a:r>
            <a:r>
              <a:rPr sz="1040" b="0" dirty="0">
                <a:latin typeface="Calibri"/>
              </a:rPr>
              <a:t> </a:t>
            </a:r>
            <a:r>
              <a:rPr sz="1040" b="0" dirty="0" err="1">
                <a:latin typeface="Calibri"/>
              </a:rPr>
              <a:t>đối</a:t>
            </a:r>
            <a:r>
              <a:rPr sz="1040" b="0" dirty="0">
                <a:latin typeface="Calibri"/>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0E1A3C"/>
        </a:solidFill>
        <a:effectLst/>
      </p:bgPr>
    </p:bg>
    <p:spTree>
      <p:nvGrpSpPr>
        <p:cNvPr id="1" name=""/>
        <p:cNvGrpSpPr/>
        <p:nvPr/>
      </p:nvGrpSpPr>
      <p:grpSpPr>
        <a:xfrm>
          <a:off x="0" y="0"/>
          <a:ext cx="0" cy="0"/>
          <a:chOff x="0" y="0"/>
          <a:chExt cx="0" cy="0"/>
        </a:xfrm>
      </p:grpSpPr>
      <p:pic>
        <p:nvPicPr>
          <p:cNvPr id="2" name="Image 0" descr="img/image1.png"/>
          <p:cNvPicPr>
            <a:picLocks noChangeAspect="1"/>
          </p:cNvPicPr>
          <p:nvPr/>
        </p:nvPicPr>
        <p:blipFill>
          <a:blip r:embed="rId3"/>
          <a:stretch>
            <a:fillRect/>
          </a:stretch>
        </p:blipFill>
        <p:spPr>
          <a:xfrm>
            <a:off x="457200" y="411480"/>
            <a:ext cx="1371600" cy="548640"/>
          </a:xfrm>
          <a:prstGeom prst="rect">
            <a:avLst/>
          </a:prstGeom>
        </p:spPr>
      </p:pic>
      <p:sp>
        <p:nvSpPr>
          <p:cNvPr id="3" name="Text 0"/>
          <p:cNvSpPr/>
          <p:nvPr/>
        </p:nvSpPr>
        <p:spPr>
          <a:xfrm>
            <a:off x="914400" y="2468880"/>
            <a:ext cx="10360152" cy="91440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Cảm </a:t>
            </a:r>
            <a:r>
              <a:rPr lang="en-US" sz="3600" b="1" dirty="0" err="1">
                <a:solidFill>
                  <a:srgbClr val="FFFFFF"/>
                </a:solidFill>
                <a:latin typeface="Cambria" pitchFamily="34" charset="0"/>
                <a:ea typeface="Cambria" pitchFamily="34" charset="-122"/>
                <a:cs typeface="Cambria" pitchFamily="34" charset="-120"/>
              </a:rPr>
              <a:t>ơn</a:t>
            </a:r>
            <a:r>
              <a:rPr lang="en-US" sz="3600" b="1" dirty="0">
                <a:solidFill>
                  <a:srgbClr val="FFFFFF"/>
                </a:solidFill>
                <a:latin typeface="Cambria" pitchFamily="34" charset="0"/>
                <a:ea typeface="Cambria" pitchFamily="34" charset="-122"/>
                <a:cs typeface="Cambria" pitchFamily="34" charset="-120"/>
              </a:rPr>
              <a:t> </a:t>
            </a:r>
            <a:r>
              <a:rPr lang="en-US" sz="3600" b="1" dirty="0" err="1">
                <a:solidFill>
                  <a:srgbClr val="FFFFFF"/>
                </a:solidFill>
                <a:latin typeface="Cambria" pitchFamily="34" charset="0"/>
                <a:ea typeface="Cambria" pitchFamily="34" charset="-122"/>
                <a:cs typeface="Cambria" pitchFamily="34" charset="-120"/>
              </a:rPr>
              <a:t>các</a:t>
            </a:r>
            <a:r>
              <a:rPr lang="en-US" sz="3600" b="1" dirty="0">
                <a:solidFill>
                  <a:srgbClr val="FFFFFF"/>
                </a:solidFill>
                <a:latin typeface="Cambria" pitchFamily="34" charset="0"/>
                <a:ea typeface="Cambria" pitchFamily="34" charset="-122"/>
                <a:cs typeface="Cambria" pitchFamily="34" charset="-120"/>
              </a:rPr>
              <a:t> </a:t>
            </a:r>
            <a:r>
              <a:rPr lang="en-US" sz="3600" b="1" dirty="0" err="1">
                <a:solidFill>
                  <a:srgbClr val="FFFFFF"/>
                </a:solidFill>
                <a:latin typeface="Cambria" pitchFamily="34" charset="0"/>
                <a:ea typeface="Cambria" pitchFamily="34" charset="-122"/>
                <a:cs typeface="Cambria" pitchFamily="34" charset="-120"/>
              </a:rPr>
              <a:t>bạn</a:t>
            </a:r>
            <a:r>
              <a:rPr lang="en-US" sz="3600" b="1" dirty="0">
                <a:solidFill>
                  <a:srgbClr val="FFFFFF"/>
                </a:solidFill>
                <a:latin typeface="Cambria" pitchFamily="34" charset="0"/>
                <a:ea typeface="Cambria" pitchFamily="34" charset="-122"/>
                <a:cs typeface="Cambria" pitchFamily="34" charset="-120"/>
              </a:rPr>
              <a:t>!</a:t>
            </a:r>
            <a:endParaRPr lang="en-US" sz="3600" dirty="0"/>
          </a:p>
        </p:txBody>
      </p:sp>
      <p:sp>
        <p:nvSpPr>
          <p:cNvPr id="4" name="Text 1"/>
          <p:cNvSpPr/>
          <p:nvPr/>
        </p:nvSpPr>
        <p:spPr>
          <a:xfrm>
            <a:off x="1371600" y="3474720"/>
            <a:ext cx="9445752" cy="731520"/>
          </a:xfrm>
          <a:prstGeom prst="rect">
            <a:avLst/>
          </a:prstGeom>
          <a:noFill/>
          <a:ln/>
        </p:spPr>
        <p:txBody>
          <a:bodyPr wrap="square" rtlCol="0" anchor="ctr"/>
          <a:lstStyle/>
          <a:p>
            <a:pPr marL="0" indent="0" algn="ctr">
              <a:buNone/>
            </a:pPr>
            <a:r>
              <a:rPr lang="en-US" sz="1400" dirty="0">
                <a:solidFill>
                  <a:srgbClr val="CAD6F2"/>
                </a:solidFill>
                <a:latin typeface="Calibri" pitchFamily="34" charset="0"/>
                <a:ea typeface="Calibri" pitchFamily="34" charset="-122"/>
                <a:cs typeface="Calibri" pitchFamily="34" charset="-120"/>
              </a:rPr>
              <a:t>Tóm lại: cách kiểm tra giải thích phải bám dữ liệu thật; infidelity là tiêu chí đáng tin; nên dùng consensus thay mặc định.</a:t>
            </a:r>
            <a:endParaRPr lang="en-US" sz="1400" dirty="0"/>
          </a:p>
        </p:txBody>
      </p:sp>
      <p:sp>
        <p:nvSpPr>
          <p:cNvPr id="5" name="Text 2"/>
          <p:cNvSpPr/>
          <p:nvPr/>
        </p:nvSpPr>
        <p:spPr>
          <a:xfrm>
            <a:off x="914400" y="4389120"/>
            <a:ext cx="10360152" cy="548640"/>
          </a:xfrm>
          <a:prstGeom prst="rect">
            <a:avLst/>
          </a:prstGeom>
          <a:noFill/>
          <a:ln/>
        </p:spPr>
        <p:txBody>
          <a:bodyPr wrap="square" rtlCol="0" anchor="ctr"/>
          <a:lstStyle/>
          <a:p>
            <a:pPr marL="0" indent="0" algn="ctr">
              <a:buNone/>
            </a:pPr>
            <a:r>
              <a:rPr lang="en-US" sz="2000" b="1" dirty="0">
                <a:solidFill>
                  <a:srgbClr val="E87722"/>
                </a:solidFill>
                <a:latin typeface="Calibri" pitchFamily="34" charset="0"/>
                <a:ea typeface="Calibri" pitchFamily="34" charset="-122"/>
                <a:cs typeface="Calibri" pitchFamily="34" charset="-120"/>
              </a:rPr>
              <a:t>Q &amp; A</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2966</Words>
  <Application>Microsoft Office PowerPoint</Application>
  <PresentationFormat>Custom</PresentationFormat>
  <Paragraphs>298</Paragraphs>
  <Slides>21</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Minh Nghia</cp:lastModifiedBy>
  <cp:revision>3</cp:revision>
  <dcterms:created xsi:type="dcterms:W3CDTF">2026-06-25T16:41:28Z</dcterms:created>
  <dcterms:modified xsi:type="dcterms:W3CDTF">2026-06-26T17:02:18Z</dcterms:modified>
</cp:coreProperties>
</file>